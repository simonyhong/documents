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30" autoAdjust="0"/>
    <p:restoredTop sz="94660"/>
  </p:normalViewPr>
  <p:slideViewPr>
    <p:cSldViewPr snapToGrid="0">
      <p:cViewPr varScale="1">
        <p:scale>
          <a:sx n="209" d="100"/>
          <a:sy n="209" d="100"/>
        </p:scale>
        <p:origin x="186" y="9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34E8E-6962-446E-9CAF-D7A676CFDD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BBEC8D-B82D-42C2-A170-0FE003344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35E756-A98D-4643-97CD-E01389053ECA}"/>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5" name="Footer Placeholder 4">
            <a:extLst>
              <a:ext uri="{FF2B5EF4-FFF2-40B4-BE49-F238E27FC236}">
                <a16:creationId xmlns:a16="http://schemas.microsoft.com/office/drawing/2014/main" id="{2E8954FE-744D-4850-AA7C-0796CCC97A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2AD025-2714-48E6-866B-6439FC9A508D}"/>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3083019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C1DF0-F01E-48A0-9661-8795422FAF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251F21-CD27-41F1-B97D-CCC85F953E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875EF4-EF04-4E00-880C-6DE176A2651B}"/>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5" name="Footer Placeholder 4">
            <a:extLst>
              <a:ext uri="{FF2B5EF4-FFF2-40B4-BE49-F238E27FC236}">
                <a16:creationId xmlns:a16="http://schemas.microsoft.com/office/drawing/2014/main" id="{F904EFC6-B226-4A9D-B23B-854556EE0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1EC88-98C6-4F73-A819-BD45258AFF47}"/>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3911567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C2109-35D0-47AE-BAD2-8D3E4027F1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C9B38E-58CC-4D78-8511-6304D210E6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85A63C-6680-4CD6-9DE5-161A7B380AF1}"/>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5" name="Footer Placeholder 4">
            <a:extLst>
              <a:ext uri="{FF2B5EF4-FFF2-40B4-BE49-F238E27FC236}">
                <a16:creationId xmlns:a16="http://schemas.microsoft.com/office/drawing/2014/main" id="{6379B906-4277-482F-ABEF-522AA0CD92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550CC-CC4B-4F3F-8D7A-836C1D59C536}"/>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966625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9B9D3-A5F6-438D-8535-B32FF00E8C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245C11-7FD5-42A6-AF9C-3F91E58AEE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30EA2E-116D-491D-A2BB-2CEC4351B6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706362-4148-4CE0-88ED-8C640D311416}"/>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6" name="Footer Placeholder 5">
            <a:extLst>
              <a:ext uri="{FF2B5EF4-FFF2-40B4-BE49-F238E27FC236}">
                <a16:creationId xmlns:a16="http://schemas.microsoft.com/office/drawing/2014/main" id="{5F75F786-D1FE-4596-9620-CB2AF9ECF8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979D25-1CD5-4464-8A8D-ABBD7F321B33}"/>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344220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EAEE2-73E6-402F-95C6-2089E2E74A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63AECE-B351-403B-8BD5-7AD014DFB2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B9D1BF-7292-4137-B9EA-6637300B64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5C4D47-75F3-402F-9692-514092E922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77BD67-9A04-4D7F-8A9F-9440AA9F12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09D708-0D29-46D8-B8A9-94334AF0691A}"/>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8" name="Footer Placeholder 7">
            <a:extLst>
              <a:ext uri="{FF2B5EF4-FFF2-40B4-BE49-F238E27FC236}">
                <a16:creationId xmlns:a16="http://schemas.microsoft.com/office/drawing/2014/main" id="{F6090452-C409-4DFE-977F-97031F1F11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3EC1E2-472B-4D54-88C7-5FE275F46AEE}"/>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606705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793F0-B54E-4E9B-805C-B8EEF3486A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B686BA-7B98-4F8A-BDF6-9B76E24A4146}"/>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4" name="Footer Placeholder 3">
            <a:extLst>
              <a:ext uri="{FF2B5EF4-FFF2-40B4-BE49-F238E27FC236}">
                <a16:creationId xmlns:a16="http://schemas.microsoft.com/office/drawing/2014/main" id="{BEA85FBE-A92B-4EBF-B322-8F2EBE0FA3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ADADBE-85CB-49AE-8465-A1ACFB0AC289}"/>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732260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3C2A3D-898F-41BA-A96F-31AE6D6D16AF}"/>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3" name="Footer Placeholder 2">
            <a:extLst>
              <a:ext uri="{FF2B5EF4-FFF2-40B4-BE49-F238E27FC236}">
                <a16:creationId xmlns:a16="http://schemas.microsoft.com/office/drawing/2014/main" id="{B4D5E7A4-3822-4E88-ABB3-09CB2733B2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3E6E1D-C111-4E1E-8547-B0DBE4C0376D}"/>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1621328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E3014-4724-4470-899C-12D8DDB1B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814339-F442-42DB-A7C6-DC12481870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32FA5C-CF70-4196-AEC5-7C7C42C0CC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49E18C-4DA6-4F59-AED9-9B47DD767E7A}"/>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6" name="Footer Placeholder 5">
            <a:extLst>
              <a:ext uri="{FF2B5EF4-FFF2-40B4-BE49-F238E27FC236}">
                <a16:creationId xmlns:a16="http://schemas.microsoft.com/office/drawing/2014/main" id="{161F1EAE-C3DD-4EB0-8185-45EB20BD90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98D501-A27C-4FC0-B671-7EB469A28D8A}"/>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2579647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F45A5-75A6-4ABC-817E-433D2F5102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C38D3B-5FCC-463B-AF54-1D7404FF4F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C0A0C7-EA38-4086-B0DD-4757D01E6E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F70C0B-A43F-4926-98F9-FA35E3FD603A}"/>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6" name="Footer Placeholder 5">
            <a:extLst>
              <a:ext uri="{FF2B5EF4-FFF2-40B4-BE49-F238E27FC236}">
                <a16:creationId xmlns:a16="http://schemas.microsoft.com/office/drawing/2014/main" id="{386D41E5-FAED-4900-9486-8D52FA63C0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4AB7A-F1FC-496D-B6A1-8BA2AF242A36}"/>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1521576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BF6E5-C4A9-475C-B97B-C0FA3AA56E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8C6D14-0293-422F-B1F8-2C23B70576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FDC5E4-A6F5-43D3-82FC-4B8A30324D47}"/>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5" name="Footer Placeholder 4">
            <a:extLst>
              <a:ext uri="{FF2B5EF4-FFF2-40B4-BE49-F238E27FC236}">
                <a16:creationId xmlns:a16="http://schemas.microsoft.com/office/drawing/2014/main" id="{DC658F16-76D2-42CE-83EA-D36D9EB8AE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D889EE-D9EA-4202-B71B-545CBE986440}"/>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2766289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595B72-BCE0-4C9A-9F2B-D5C29AC54A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F42B47-DAC6-4929-8D55-985A9098DC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A23094-904B-484C-8D9B-BA01E42ACF34}"/>
              </a:ext>
            </a:extLst>
          </p:cNvPr>
          <p:cNvSpPr>
            <a:spLocks noGrp="1"/>
          </p:cNvSpPr>
          <p:nvPr>
            <p:ph type="dt" sz="half" idx="10"/>
          </p:nvPr>
        </p:nvSpPr>
        <p:spPr/>
        <p:txBody>
          <a:bodyPr/>
          <a:lstStyle/>
          <a:p>
            <a:fld id="{760B2EBD-3AD5-463D-B7CB-D738FDA81557}" type="datetimeFigureOut">
              <a:rPr lang="en-US" smtClean="0"/>
              <a:t>2/11/2020</a:t>
            </a:fld>
            <a:endParaRPr lang="en-US"/>
          </a:p>
        </p:txBody>
      </p:sp>
      <p:sp>
        <p:nvSpPr>
          <p:cNvPr id="5" name="Footer Placeholder 4">
            <a:extLst>
              <a:ext uri="{FF2B5EF4-FFF2-40B4-BE49-F238E27FC236}">
                <a16:creationId xmlns:a16="http://schemas.microsoft.com/office/drawing/2014/main" id="{29B35C44-66A4-4E7A-BC51-CD92CCABFA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889C2C-DA64-4D7E-92B1-FF449F2BC96A}"/>
              </a:ext>
            </a:extLst>
          </p:cNvPr>
          <p:cNvSpPr>
            <a:spLocks noGrp="1"/>
          </p:cNvSpPr>
          <p:nvPr>
            <p:ph type="sldNum" sz="quarter" idx="12"/>
          </p:nvPr>
        </p:nvSpPr>
        <p:spPr/>
        <p:txBody>
          <a:bodyPr/>
          <a:lstStyle/>
          <a:p>
            <a:fld id="{7A1D0E9A-7D98-473C-A382-C2A19EFDFCD5}" type="slidenum">
              <a:rPr lang="en-US" smtClean="0"/>
              <a:t>‹#›</a:t>
            </a:fld>
            <a:endParaRPr lang="en-US"/>
          </a:p>
        </p:txBody>
      </p:sp>
    </p:spTree>
    <p:extLst>
      <p:ext uri="{BB962C8B-B14F-4D97-AF65-F5344CB8AC3E}">
        <p14:creationId xmlns:p14="http://schemas.microsoft.com/office/powerpoint/2010/main" val="473319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DC4B8C-714C-44A3-B48E-B83A745A4D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7F9E94-8700-47C7-B589-41827FC6D4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95B169-D0D0-403D-9F66-0FDDFB8C4C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0B2EBD-3AD5-463D-B7CB-D738FDA81557}" type="datetimeFigureOut">
              <a:rPr lang="en-US" smtClean="0"/>
              <a:t>2/11/2020</a:t>
            </a:fld>
            <a:endParaRPr lang="en-US"/>
          </a:p>
        </p:txBody>
      </p:sp>
      <p:sp>
        <p:nvSpPr>
          <p:cNvPr id="5" name="Footer Placeholder 4">
            <a:extLst>
              <a:ext uri="{FF2B5EF4-FFF2-40B4-BE49-F238E27FC236}">
                <a16:creationId xmlns:a16="http://schemas.microsoft.com/office/drawing/2014/main" id="{321386D9-0C52-4C39-8D39-D64ADC1E7D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8D3A4B-32D7-4A03-AEE0-2057E3DE4F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1D0E9A-7D98-473C-A382-C2A19EFDFCD5}" type="slidenum">
              <a:rPr lang="en-US" smtClean="0"/>
              <a:t>‹#›</a:t>
            </a:fld>
            <a:endParaRPr lang="en-US"/>
          </a:p>
        </p:txBody>
      </p:sp>
    </p:spTree>
    <p:extLst>
      <p:ext uri="{BB962C8B-B14F-4D97-AF65-F5344CB8AC3E}">
        <p14:creationId xmlns:p14="http://schemas.microsoft.com/office/powerpoint/2010/main" val="2800752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4088CF-B3F5-44FF-8653-960FFD9CB66D}"/>
              </a:ext>
            </a:extLst>
          </p:cNvPr>
          <p:cNvSpPr txBox="1"/>
          <p:nvPr/>
        </p:nvSpPr>
        <p:spPr>
          <a:xfrm>
            <a:off x="474072" y="2084498"/>
            <a:ext cx="7962435" cy="4801314"/>
          </a:xfrm>
          <a:prstGeom prst="rect">
            <a:avLst/>
          </a:prstGeom>
          <a:noFill/>
        </p:spPr>
        <p:txBody>
          <a:bodyPr wrap="square" rtlCol="0">
            <a:spAutoFit/>
          </a:bodyPr>
          <a:lstStyle/>
          <a:p>
            <a:r>
              <a:rPr lang="en-US" sz="800" dirty="0"/>
              <a:t>Initial setting:</a:t>
            </a:r>
          </a:p>
          <a:p>
            <a:r>
              <a:rPr lang="en-US" sz="800" dirty="0"/>
              <a:t>$ git </a:t>
            </a:r>
            <a:r>
              <a:rPr lang="en-US" sz="800" dirty="0">
                <a:solidFill>
                  <a:srgbClr val="FF0000"/>
                </a:solidFill>
              </a:rPr>
              <a:t>help</a:t>
            </a:r>
            <a:r>
              <a:rPr lang="en-US" sz="800" dirty="0"/>
              <a:t> </a:t>
            </a:r>
            <a:r>
              <a:rPr lang="en-US" sz="800" dirty="0">
                <a:solidFill>
                  <a:srgbClr val="CC00FF"/>
                </a:solidFill>
              </a:rPr>
              <a:t>config</a:t>
            </a:r>
            <a:r>
              <a:rPr lang="en-US" sz="800" dirty="0"/>
              <a:t> </a:t>
            </a:r>
            <a:r>
              <a:rPr lang="en-US" sz="800" dirty="0">
                <a:solidFill>
                  <a:srgbClr val="00B050"/>
                </a:solidFill>
              </a:rPr>
              <a:t>(show what “config” does) </a:t>
            </a:r>
          </a:p>
          <a:p>
            <a:r>
              <a:rPr lang="en-US" sz="800" dirty="0"/>
              <a:t>$ </a:t>
            </a:r>
            <a:r>
              <a:rPr lang="en-US" sz="800" dirty="0">
                <a:solidFill>
                  <a:srgbClr val="FF0000"/>
                </a:solidFill>
              </a:rPr>
              <a:t>ls -la </a:t>
            </a:r>
            <a:r>
              <a:rPr lang="en-US" sz="800" dirty="0">
                <a:solidFill>
                  <a:srgbClr val="00B050"/>
                </a:solidFill>
              </a:rPr>
              <a:t>(show that the directory has)</a:t>
            </a:r>
          </a:p>
          <a:p>
            <a:r>
              <a:rPr lang="en-US" sz="800" dirty="0"/>
              <a:t>$ git </a:t>
            </a:r>
            <a:r>
              <a:rPr lang="en-US" sz="800" dirty="0" err="1">
                <a:solidFill>
                  <a:srgbClr val="FF0000"/>
                </a:solidFill>
              </a:rPr>
              <a:t>init</a:t>
            </a:r>
            <a:r>
              <a:rPr lang="en-US" sz="800" dirty="0"/>
              <a:t> </a:t>
            </a:r>
            <a:r>
              <a:rPr lang="en-US" sz="800" dirty="0">
                <a:solidFill>
                  <a:srgbClr val="00B050"/>
                </a:solidFill>
              </a:rPr>
              <a:t>(creates a git directory; start tracking the project in the directory, which becomes a repository)</a:t>
            </a:r>
          </a:p>
          <a:p>
            <a:r>
              <a:rPr lang="en-US" sz="800" dirty="0"/>
              <a:t>$ git </a:t>
            </a:r>
            <a:r>
              <a:rPr lang="en-US" sz="800" dirty="0">
                <a:solidFill>
                  <a:srgbClr val="FF0000"/>
                </a:solidFill>
              </a:rPr>
              <a:t>status</a:t>
            </a:r>
            <a:r>
              <a:rPr lang="en-US" sz="800" dirty="0"/>
              <a:t> </a:t>
            </a:r>
            <a:r>
              <a:rPr lang="en-US" sz="800" dirty="0">
                <a:solidFill>
                  <a:srgbClr val="00B050"/>
                </a:solidFill>
              </a:rPr>
              <a:t>(shows the status of the repository; e.g., what has been done; </a:t>
            </a:r>
            <a:r>
              <a:rPr lang="en-US" sz="800" dirty="0"/>
              <a:t>c.f., git log</a:t>
            </a:r>
            <a:r>
              <a:rPr lang="en-US" sz="800" dirty="0">
                <a:solidFill>
                  <a:srgbClr val="00B050"/>
                </a:solidFill>
              </a:rPr>
              <a:t>) </a:t>
            </a:r>
          </a:p>
          <a:p>
            <a:r>
              <a:rPr lang="en-US" sz="800" dirty="0"/>
              <a:t>$</a:t>
            </a:r>
            <a:r>
              <a:rPr lang="en-US" sz="800" dirty="0">
                <a:solidFill>
                  <a:srgbClr val="00B050"/>
                </a:solidFill>
              </a:rPr>
              <a:t> </a:t>
            </a:r>
            <a:r>
              <a:rPr lang="en-US" sz="800" dirty="0">
                <a:solidFill>
                  <a:srgbClr val="FF0000"/>
                </a:solidFill>
              </a:rPr>
              <a:t>rm –rf </a:t>
            </a:r>
            <a:r>
              <a:rPr lang="en-US" sz="800" dirty="0">
                <a:solidFill>
                  <a:srgbClr val="CC00FF"/>
                </a:solidFill>
              </a:rPr>
              <a:t>.git </a:t>
            </a:r>
            <a:r>
              <a:rPr lang="en-US" sz="800" dirty="0">
                <a:solidFill>
                  <a:srgbClr val="00B050"/>
                </a:solidFill>
              </a:rPr>
              <a:t>(remove </a:t>
            </a:r>
            <a:r>
              <a:rPr lang="en-US" sz="800" dirty="0">
                <a:solidFill>
                  <a:srgbClr val="CC00FF"/>
                </a:solidFill>
              </a:rPr>
              <a:t>git</a:t>
            </a:r>
            <a:r>
              <a:rPr lang="en-US" sz="800" dirty="0">
                <a:solidFill>
                  <a:srgbClr val="00B050"/>
                </a:solidFill>
              </a:rPr>
              <a:t> directory)</a:t>
            </a:r>
          </a:p>
          <a:p>
            <a:endParaRPr lang="en-US" sz="800" dirty="0"/>
          </a:p>
          <a:p>
            <a:r>
              <a:rPr lang="en-US" sz="800" dirty="0"/>
              <a:t>Touch/clone </a:t>
            </a:r>
            <a:r>
              <a:rPr lang="en-US" sz="800" dirty="0">
                <a:sym typeface="Wingdings" panose="05000000000000000000" pitchFamily="2" charset="2"/>
              </a:rPr>
              <a:t> add  commit  (pull &amp;) push</a:t>
            </a:r>
            <a:endParaRPr lang="en-US" sz="800" dirty="0"/>
          </a:p>
          <a:p>
            <a:r>
              <a:rPr lang="en-US" sz="800" dirty="0"/>
              <a:t>$ git </a:t>
            </a:r>
            <a:r>
              <a:rPr lang="en-US" sz="800" dirty="0">
                <a:solidFill>
                  <a:srgbClr val="FF0000"/>
                </a:solidFill>
              </a:rPr>
              <a:t>clone</a:t>
            </a:r>
            <a:r>
              <a:rPr lang="en-US" sz="800" dirty="0"/>
              <a:t> </a:t>
            </a:r>
            <a:r>
              <a:rPr lang="en-US" sz="800" dirty="0">
                <a:solidFill>
                  <a:srgbClr val="CC00FF"/>
                </a:solidFill>
              </a:rPr>
              <a:t>&lt;</a:t>
            </a:r>
            <a:r>
              <a:rPr lang="en-US" sz="800" dirty="0" err="1">
                <a:solidFill>
                  <a:srgbClr val="CC00FF"/>
                </a:solidFill>
              </a:rPr>
              <a:t>url</a:t>
            </a:r>
            <a:r>
              <a:rPr lang="en-US" sz="800" dirty="0">
                <a:solidFill>
                  <a:srgbClr val="CC00FF"/>
                </a:solidFill>
              </a:rPr>
              <a:t>&gt; &lt;where to clone&gt; </a:t>
            </a:r>
            <a:r>
              <a:rPr lang="en-US" sz="800" dirty="0">
                <a:solidFill>
                  <a:srgbClr val="00B050"/>
                </a:solidFill>
              </a:rPr>
              <a:t>(e.g. : git clone </a:t>
            </a:r>
            <a:r>
              <a:rPr lang="en-US" sz="800" dirty="0">
                <a:solidFill>
                  <a:srgbClr val="CC00FF"/>
                </a:solidFill>
              </a:rPr>
              <a:t>https://github.com/CoreyMSchafer/remote_repo.git . </a:t>
            </a:r>
            <a:r>
              <a:rPr lang="en-US" sz="800" dirty="0">
                <a:solidFill>
                  <a:srgbClr val="00B050"/>
                </a:solidFill>
              </a:rPr>
              <a:t>)</a:t>
            </a:r>
          </a:p>
          <a:p>
            <a:r>
              <a:rPr lang="en-US" sz="800" dirty="0"/>
              <a:t>$ git </a:t>
            </a:r>
            <a:r>
              <a:rPr lang="en-US" sz="800" dirty="0">
                <a:solidFill>
                  <a:srgbClr val="FF0000"/>
                </a:solidFill>
              </a:rPr>
              <a:t>branch</a:t>
            </a:r>
            <a:r>
              <a:rPr lang="en-US" sz="800" dirty="0"/>
              <a:t> </a:t>
            </a:r>
            <a:r>
              <a:rPr lang="en-US" sz="800" dirty="0" err="1">
                <a:solidFill>
                  <a:srgbClr val="CC00FF"/>
                </a:solidFill>
              </a:rPr>
              <a:t>newBranch</a:t>
            </a:r>
            <a:r>
              <a:rPr lang="en-US" sz="800" dirty="0"/>
              <a:t> </a:t>
            </a:r>
            <a:r>
              <a:rPr lang="en-US" sz="800" dirty="0">
                <a:solidFill>
                  <a:srgbClr val="00B050"/>
                </a:solidFill>
              </a:rPr>
              <a:t>(adds a </a:t>
            </a:r>
            <a:r>
              <a:rPr lang="en-US" sz="800" dirty="0" err="1">
                <a:solidFill>
                  <a:srgbClr val="CC00FF"/>
                </a:solidFill>
              </a:rPr>
              <a:t>newBranch</a:t>
            </a:r>
            <a:r>
              <a:rPr lang="en-US" sz="800" dirty="0">
                <a:solidFill>
                  <a:srgbClr val="00B050"/>
                </a:solidFill>
              </a:rPr>
              <a:t> to the existing branch)</a:t>
            </a:r>
          </a:p>
          <a:p>
            <a:r>
              <a:rPr lang="en-US" sz="800" dirty="0"/>
              <a:t>$ git </a:t>
            </a:r>
            <a:r>
              <a:rPr lang="en-US" sz="800" dirty="0">
                <a:solidFill>
                  <a:srgbClr val="FF0000"/>
                </a:solidFill>
              </a:rPr>
              <a:t>remote</a:t>
            </a:r>
            <a:r>
              <a:rPr lang="en-US" sz="800" dirty="0"/>
              <a:t> </a:t>
            </a:r>
            <a:r>
              <a:rPr lang="en-US" sz="800" dirty="0">
                <a:solidFill>
                  <a:srgbClr val="FF0000"/>
                </a:solidFill>
              </a:rPr>
              <a:t>-v </a:t>
            </a:r>
            <a:r>
              <a:rPr lang="en-US" sz="800" dirty="0">
                <a:solidFill>
                  <a:srgbClr val="00B050"/>
                </a:solidFill>
              </a:rPr>
              <a:t>(shows the remote repository information)</a:t>
            </a:r>
          </a:p>
          <a:p>
            <a:r>
              <a:rPr lang="en-US" sz="800" dirty="0"/>
              <a:t>$ git </a:t>
            </a:r>
            <a:r>
              <a:rPr lang="en-US" sz="800" dirty="0">
                <a:solidFill>
                  <a:srgbClr val="FF0000"/>
                </a:solidFill>
              </a:rPr>
              <a:t>branch -a</a:t>
            </a:r>
            <a:r>
              <a:rPr lang="en-US" sz="800" dirty="0"/>
              <a:t> </a:t>
            </a:r>
            <a:r>
              <a:rPr lang="en-US" sz="800" dirty="0">
                <a:solidFill>
                  <a:srgbClr val="00B050"/>
                </a:solidFill>
              </a:rPr>
              <a:t>(shows all the local &amp; remote branches)</a:t>
            </a:r>
          </a:p>
          <a:p>
            <a:r>
              <a:rPr lang="en-US" sz="800" dirty="0"/>
              <a:t>$ git </a:t>
            </a:r>
            <a:r>
              <a:rPr lang="en-US" sz="800" dirty="0">
                <a:solidFill>
                  <a:srgbClr val="FF0000"/>
                </a:solidFill>
              </a:rPr>
              <a:t>branch</a:t>
            </a:r>
            <a:r>
              <a:rPr lang="en-US" sz="800" dirty="0"/>
              <a:t> </a:t>
            </a:r>
            <a:r>
              <a:rPr lang="en-US" sz="800" dirty="0">
                <a:solidFill>
                  <a:srgbClr val="00B050"/>
                </a:solidFill>
              </a:rPr>
              <a:t>(shows all the local branches)</a:t>
            </a:r>
          </a:p>
          <a:p>
            <a:r>
              <a:rPr lang="en-US" sz="800" dirty="0"/>
              <a:t>$ git </a:t>
            </a:r>
            <a:r>
              <a:rPr lang="en-US" sz="800" dirty="0">
                <a:solidFill>
                  <a:srgbClr val="FF0000"/>
                </a:solidFill>
              </a:rPr>
              <a:t>checkout </a:t>
            </a:r>
            <a:r>
              <a:rPr lang="en-US" sz="800" dirty="0" err="1">
                <a:solidFill>
                  <a:srgbClr val="CC00FF"/>
                </a:solidFill>
              </a:rPr>
              <a:t>newBranch</a:t>
            </a:r>
            <a:r>
              <a:rPr lang="en-US" sz="800" dirty="0"/>
              <a:t> </a:t>
            </a:r>
            <a:r>
              <a:rPr lang="en-US" sz="800" dirty="0">
                <a:solidFill>
                  <a:srgbClr val="00B050"/>
                </a:solidFill>
              </a:rPr>
              <a:t>(work on the </a:t>
            </a:r>
            <a:r>
              <a:rPr lang="en-US" sz="800" dirty="0" err="1">
                <a:solidFill>
                  <a:srgbClr val="CC00FF"/>
                </a:solidFill>
              </a:rPr>
              <a:t>newBranch</a:t>
            </a:r>
            <a:r>
              <a:rPr lang="en-US" sz="800" dirty="0">
                <a:solidFill>
                  <a:srgbClr val="00B050"/>
                </a:solidFill>
              </a:rPr>
              <a:t>)</a:t>
            </a:r>
          </a:p>
          <a:p>
            <a:r>
              <a:rPr lang="en-US" sz="800" dirty="0"/>
              <a:t>$ git </a:t>
            </a:r>
            <a:r>
              <a:rPr lang="en-US" sz="800" dirty="0">
                <a:solidFill>
                  <a:srgbClr val="FF0000"/>
                </a:solidFill>
              </a:rPr>
              <a:t>clone</a:t>
            </a:r>
            <a:r>
              <a:rPr lang="en-US" sz="800" dirty="0"/>
              <a:t> </a:t>
            </a:r>
            <a:r>
              <a:rPr lang="en-US" sz="800" dirty="0">
                <a:solidFill>
                  <a:srgbClr val="CC00FF"/>
                </a:solidFill>
              </a:rPr>
              <a:t>&lt;</a:t>
            </a:r>
            <a:r>
              <a:rPr lang="en-US" sz="800" dirty="0" err="1">
                <a:solidFill>
                  <a:srgbClr val="CC00FF"/>
                </a:solidFill>
              </a:rPr>
              <a:t>url</a:t>
            </a:r>
            <a:r>
              <a:rPr lang="en-US" sz="800" dirty="0">
                <a:solidFill>
                  <a:srgbClr val="CC00FF"/>
                </a:solidFill>
              </a:rPr>
              <a:t>&gt; &lt;where to clone&gt; </a:t>
            </a:r>
            <a:r>
              <a:rPr lang="en-US" sz="800" dirty="0">
                <a:solidFill>
                  <a:srgbClr val="00B050"/>
                </a:solidFill>
              </a:rPr>
              <a:t>(e.g. : git clone https://github.com/CoreyMSchafer/remote_repo.git . )</a:t>
            </a:r>
          </a:p>
          <a:p>
            <a:r>
              <a:rPr lang="en-US" sz="800" dirty="0"/>
              <a:t>$ </a:t>
            </a:r>
            <a:r>
              <a:rPr lang="en-US" sz="800" dirty="0">
                <a:solidFill>
                  <a:srgbClr val="FF0000"/>
                </a:solidFill>
              </a:rPr>
              <a:t>touch</a:t>
            </a:r>
            <a:r>
              <a:rPr lang="en-US" sz="800" dirty="0"/>
              <a:t> </a:t>
            </a:r>
            <a:r>
              <a:rPr lang="en-US" sz="800" dirty="0">
                <a:solidFill>
                  <a:srgbClr val="CC00FF"/>
                </a:solidFill>
              </a:rPr>
              <a:t>.</a:t>
            </a:r>
            <a:r>
              <a:rPr lang="en-US" sz="800" dirty="0" err="1">
                <a:solidFill>
                  <a:srgbClr val="CC00FF"/>
                </a:solidFill>
              </a:rPr>
              <a:t>gitignore</a:t>
            </a:r>
            <a:r>
              <a:rPr lang="en-US" sz="800" dirty="0">
                <a:solidFill>
                  <a:srgbClr val="CC00FF"/>
                </a:solidFill>
              </a:rPr>
              <a:t> </a:t>
            </a:r>
            <a:r>
              <a:rPr lang="en-US" sz="800" dirty="0">
                <a:solidFill>
                  <a:srgbClr val="00B050"/>
                </a:solidFill>
              </a:rPr>
              <a:t>(creates a </a:t>
            </a:r>
            <a:r>
              <a:rPr lang="en-US" sz="800" dirty="0" err="1">
                <a:solidFill>
                  <a:srgbClr val="CC00FF"/>
                </a:solidFill>
              </a:rPr>
              <a:t>gitignore</a:t>
            </a:r>
            <a:r>
              <a:rPr lang="en-US" sz="800" dirty="0">
                <a:solidFill>
                  <a:srgbClr val="00B050"/>
                </a:solidFill>
              </a:rPr>
              <a:t> file, in which you list untracked files)</a:t>
            </a:r>
          </a:p>
          <a:p>
            <a:r>
              <a:rPr lang="en-US" sz="800" dirty="0"/>
              <a:t>$ git </a:t>
            </a:r>
            <a:r>
              <a:rPr lang="en-US" sz="800" dirty="0">
                <a:solidFill>
                  <a:srgbClr val="FF0000"/>
                </a:solidFill>
              </a:rPr>
              <a:t>diff</a:t>
            </a:r>
            <a:r>
              <a:rPr lang="en-US" sz="800" dirty="0"/>
              <a:t> </a:t>
            </a:r>
            <a:r>
              <a:rPr lang="en-US" sz="800" dirty="0">
                <a:solidFill>
                  <a:srgbClr val="00B050"/>
                </a:solidFill>
              </a:rPr>
              <a:t>(shows the changes in the Working Directory) </a:t>
            </a:r>
          </a:p>
          <a:p>
            <a:r>
              <a:rPr lang="en-US" sz="800" dirty="0"/>
              <a:t>$ git </a:t>
            </a:r>
            <a:r>
              <a:rPr lang="en-US" sz="800" dirty="0">
                <a:solidFill>
                  <a:srgbClr val="FF0000"/>
                </a:solidFill>
              </a:rPr>
              <a:t>add</a:t>
            </a:r>
            <a:r>
              <a:rPr lang="en-US" sz="800" dirty="0"/>
              <a:t> </a:t>
            </a:r>
            <a:r>
              <a:rPr lang="en-US" sz="800" dirty="0">
                <a:solidFill>
                  <a:srgbClr val="CC00FF"/>
                </a:solidFill>
              </a:rPr>
              <a:t>.readme </a:t>
            </a:r>
            <a:r>
              <a:rPr lang="en-US" sz="800" dirty="0">
                <a:solidFill>
                  <a:srgbClr val="00B050"/>
                </a:solidFill>
              </a:rPr>
              <a:t>(adds the file </a:t>
            </a:r>
            <a:r>
              <a:rPr lang="en-US" sz="800" dirty="0">
                <a:solidFill>
                  <a:srgbClr val="CC00FF"/>
                </a:solidFill>
              </a:rPr>
              <a:t>readme</a:t>
            </a:r>
            <a:r>
              <a:rPr lang="en-US" sz="800" dirty="0">
                <a:solidFill>
                  <a:srgbClr val="00B050"/>
                </a:solidFill>
              </a:rPr>
              <a:t> to the Staging Area) </a:t>
            </a:r>
          </a:p>
          <a:p>
            <a:r>
              <a:rPr lang="en-US" sz="800" dirty="0"/>
              <a:t>$ git </a:t>
            </a:r>
            <a:r>
              <a:rPr lang="en-US" sz="800" dirty="0">
                <a:solidFill>
                  <a:srgbClr val="FF0000"/>
                </a:solidFill>
              </a:rPr>
              <a:t>add</a:t>
            </a:r>
            <a:r>
              <a:rPr lang="en-US" sz="800" dirty="0"/>
              <a:t> -A</a:t>
            </a:r>
            <a:r>
              <a:rPr lang="en-US" sz="800" dirty="0">
                <a:solidFill>
                  <a:srgbClr val="CC00FF"/>
                </a:solidFill>
              </a:rPr>
              <a:t> </a:t>
            </a:r>
            <a:r>
              <a:rPr lang="en-US" sz="800" dirty="0">
                <a:solidFill>
                  <a:srgbClr val="00B050"/>
                </a:solidFill>
              </a:rPr>
              <a:t>(adds all the files in the Working Directory to the Staging Area) </a:t>
            </a:r>
          </a:p>
          <a:p>
            <a:r>
              <a:rPr lang="en-US" sz="800" dirty="0"/>
              <a:t>$ git </a:t>
            </a:r>
            <a:r>
              <a:rPr lang="en-US" sz="800" dirty="0">
                <a:solidFill>
                  <a:srgbClr val="FF0000"/>
                </a:solidFill>
              </a:rPr>
              <a:t>reset</a:t>
            </a:r>
            <a:r>
              <a:rPr lang="en-US" sz="800" dirty="0"/>
              <a:t> </a:t>
            </a:r>
            <a:r>
              <a:rPr lang="en-US" sz="800" dirty="0">
                <a:solidFill>
                  <a:srgbClr val="CC00FF"/>
                </a:solidFill>
              </a:rPr>
              <a:t>readme</a:t>
            </a:r>
            <a:r>
              <a:rPr lang="en-US" sz="800" dirty="0"/>
              <a:t> </a:t>
            </a:r>
            <a:r>
              <a:rPr lang="en-US" sz="800" dirty="0">
                <a:solidFill>
                  <a:srgbClr val="00B050"/>
                </a:solidFill>
              </a:rPr>
              <a:t>(removes </a:t>
            </a:r>
            <a:r>
              <a:rPr lang="en-US" sz="800" dirty="0">
                <a:solidFill>
                  <a:srgbClr val="CC00FF"/>
                </a:solidFill>
              </a:rPr>
              <a:t>readme</a:t>
            </a:r>
            <a:r>
              <a:rPr lang="en-US" sz="800" dirty="0">
                <a:solidFill>
                  <a:srgbClr val="00B050"/>
                </a:solidFill>
              </a:rPr>
              <a:t> back to the working directory from the Staging Area)</a:t>
            </a:r>
          </a:p>
          <a:p>
            <a:r>
              <a:rPr lang="en-US" sz="800" dirty="0"/>
              <a:t>$ git </a:t>
            </a:r>
            <a:r>
              <a:rPr lang="en-US" sz="800" dirty="0">
                <a:solidFill>
                  <a:srgbClr val="FF0000"/>
                </a:solidFill>
              </a:rPr>
              <a:t>reset</a:t>
            </a:r>
            <a:r>
              <a:rPr lang="en-US" sz="800" dirty="0"/>
              <a:t> </a:t>
            </a:r>
            <a:r>
              <a:rPr lang="en-US" sz="800" dirty="0">
                <a:solidFill>
                  <a:srgbClr val="00B050"/>
                </a:solidFill>
              </a:rPr>
              <a:t>(removes </a:t>
            </a:r>
            <a:r>
              <a:rPr lang="en-US" sz="800" dirty="0">
                <a:solidFill>
                  <a:srgbClr val="CC00FF"/>
                </a:solidFill>
              </a:rPr>
              <a:t>all files</a:t>
            </a:r>
            <a:r>
              <a:rPr lang="en-US" sz="800" dirty="0">
                <a:solidFill>
                  <a:srgbClr val="00B050"/>
                </a:solidFill>
              </a:rPr>
              <a:t> back to the working directory from the Staging Area)</a:t>
            </a:r>
          </a:p>
          <a:p>
            <a:r>
              <a:rPr lang="en-US" sz="800" dirty="0"/>
              <a:t>$ git </a:t>
            </a:r>
            <a:r>
              <a:rPr lang="en-US" sz="800" dirty="0">
                <a:solidFill>
                  <a:srgbClr val="FF0000"/>
                </a:solidFill>
              </a:rPr>
              <a:t>commit –m “</a:t>
            </a:r>
            <a:r>
              <a:rPr lang="en-US" sz="800" dirty="0">
                <a:solidFill>
                  <a:srgbClr val="CC00FF"/>
                </a:solidFill>
              </a:rPr>
              <a:t>my message</a:t>
            </a:r>
            <a:r>
              <a:rPr lang="en-US" sz="800" dirty="0">
                <a:solidFill>
                  <a:srgbClr val="FF0000"/>
                </a:solidFill>
              </a:rPr>
              <a:t>”</a:t>
            </a:r>
            <a:r>
              <a:rPr lang="en-US" sz="800" dirty="0"/>
              <a:t> </a:t>
            </a:r>
            <a:r>
              <a:rPr lang="en-US" sz="800" dirty="0">
                <a:solidFill>
                  <a:srgbClr val="00B050"/>
                </a:solidFill>
              </a:rPr>
              <a:t>(transfers the files in the Staging Area to the local Repository)</a:t>
            </a:r>
          </a:p>
          <a:p>
            <a:r>
              <a:rPr lang="en-US" sz="800" dirty="0"/>
              <a:t>$ git </a:t>
            </a:r>
            <a:r>
              <a:rPr lang="en-US" sz="800" dirty="0">
                <a:solidFill>
                  <a:srgbClr val="FF0000"/>
                </a:solidFill>
              </a:rPr>
              <a:t>pull</a:t>
            </a:r>
            <a:r>
              <a:rPr lang="en-US" sz="800" dirty="0"/>
              <a:t> </a:t>
            </a:r>
            <a:r>
              <a:rPr lang="en-US" sz="800" dirty="0" err="1">
                <a:solidFill>
                  <a:srgbClr val="CC00FF"/>
                </a:solidFill>
              </a:rPr>
              <a:t>remoteMaster</a:t>
            </a:r>
            <a:r>
              <a:rPr lang="en-US" sz="800" dirty="0">
                <a:solidFill>
                  <a:srgbClr val="CC00FF"/>
                </a:solidFill>
              </a:rPr>
              <a:t> branch </a:t>
            </a:r>
            <a:r>
              <a:rPr lang="en-US" sz="800" dirty="0">
                <a:solidFill>
                  <a:srgbClr val="00B050"/>
                </a:solidFill>
              </a:rPr>
              <a:t>(shows the status of the remote Repository)</a:t>
            </a:r>
          </a:p>
          <a:p>
            <a:r>
              <a:rPr lang="en-US" sz="800" dirty="0"/>
              <a:t>$ git </a:t>
            </a:r>
            <a:r>
              <a:rPr lang="en-US" sz="800" dirty="0">
                <a:solidFill>
                  <a:srgbClr val="FF0000"/>
                </a:solidFill>
              </a:rPr>
              <a:t>push –u </a:t>
            </a:r>
            <a:r>
              <a:rPr lang="en-US" sz="800" dirty="0">
                <a:solidFill>
                  <a:srgbClr val="CC00FF"/>
                </a:solidFill>
              </a:rPr>
              <a:t>&lt;remote repository&gt; &lt;remote branch&gt; </a:t>
            </a:r>
            <a:r>
              <a:rPr lang="en-US" sz="800" dirty="0">
                <a:solidFill>
                  <a:srgbClr val="00B050"/>
                </a:solidFill>
              </a:rPr>
              <a:t>(transfers the changes the files in the local Repository to the remote Repository. –u option associates the local branch to the remote branch so that you can use “git push” commend alone later)</a:t>
            </a:r>
          </a:p>
          <a:p>
            <a:r>
              <a:rPr lang="en-US" sz="800" dirty="0"/>
              <a:t>$ git </a:t>
            </a:r>
            <a:r>
              <a:rPr lang="en-US" sz="800" dirty="0">
                <a:solidFill>
                  <a:srgbClr val="FF0000"/>
                </a:solidFill>
              </a:rPr>
              <a:t>push</a:t>
            </a:r>
            <a:r>
              <a:rPr lang="en-US" sz="800" dirty="0"/>
              <a:t> </a:t>
            </a:r>
            <a:r>
              <a:rPr lang="en-US" sz="800" dirty="0">
                <a:solidFill>
                  <a:srgbClr val="CC00FF"/>
                </a:solidFill>
              </a:rPr>
              <a:t>&lt;remote repository&gt; &lt;remote branch&gt; </a:t>
            </a:r>
            <a:r>
              <a:rPr lang="en-US" sz="800" dirty="0">
                <a:solidFill>
                  <a:srgbClr val="00B050"/>
                </a:solidFill>
              </a:rPr>
              <a:t>(transfers the changes the files in the local Repository to the remote Repository.)</a:t>
            </a:r>
          </a:p>
          <a:p>
            <a:r>
              <a:rPr lang="en-US" sz="800" dirty="0"/>
              <a:t>$ git </a:t>
            </a:r>
            <a:r>
              <a:rPr lang="en-US" sz="800" dirty="0">
                <a:solidFill>
                  <a:srgbClr val="FF0000"/>
                </a:solidFill>
              </a:rPr>
              <a:t>push</a:t>
            </a:r>
            <a:r>
              <a:rPr lang="en-US" sz="800" dirty="0"/>
              <a:t> </a:t>
            </a:r>
            <a:r>
              <a:rPr lang="en-US" sz="800" dirty="0">
                <a:solidFill>
                  <a:srgbClr val="FF0000"/>
                </a:solidFill>
              </a:rPr>
              <a:t>--set-upstream </a:t>
            </a:r>
            <a:r>
              <a:rPr lang="en-US" sz="800" dirty="0">
                <a:solidFill>
                  <a:srgbClr val="CC00FF"/>
                </a:solidFill>
              </a:rPr>
              <a:t>https://github.com/simonyhong/Documents </a:t>
            </a:r>
            <a:r>
              <a:rPr lang="en-US" sz="800" dirty="0">
                <a:solidFill>
                  <a:srgbClr val="FF0000"/>
                </a:solidFill>
              </a:rPr>
              <a:t>master </a:t>
            </a:r>
            <a:r>
              <a:rPr lang="en-US" sz="800" dirty="0">
                <a:solidFill>
                  <a:srgbClr val="00B050"/>
                </a:solidFill>
              </a:rPr>
              <a:t>(Sets the target as the remote master; and transfers </a:t>
            </a:r>
            <a:r>
              <a:rPr lang="en-US" sz="800">
                <a:solidFill>
                  <a:srgbClr val="00B050"/>
                </a:solidFill>
              </a:rPr>
              <a:t>the committed files to the remote </a:t>
            </a:r>
            <a:r>
              <a:rPr lang="en-US" sz="800" dirty="0">
                <a:solidFill>
                  <a:srgbClr val="00B050"/>
                </a:solidFill>
              </a:rPr>
              <a:t>Repository.)</a:t>
            </a:r>
            <a:endParaRPr lang="en-US" sz="800" dirty="0">
              <a:solidFill>
                <a:srgbClr val="FF0000"/>
              </a:solidFill>
            </a:endParaRPr>
          </a:p>
          <a:p>
            <a:endParaRPr lang="en-US" sz="800" dirty="0"/>
          </a:p>
          <a:p>
            <a:r>
              <a:rPr lang="en-US" sz="800" dirty="0"/>
              <a:t>Merge </a:t>
            </a:r>
            <a:r>
              <a:rPr lang="en-US" sz="800" dirty="0">
                <a:sym typeface="Wingdings" panose="05000000000000000000" pitchFamily="2" charset="2"/>
              </a:rPr>
              <a:t>branch</a:t>
            </a:r>
          </a:p>
          <a:p>
            <a:r>
              <a:rPr lang="en-US" sz="800" dirty="0">
                <a:sym typeface="Wingdings" panose="05000000000000000000" pitchFamily="2" charset="2"/>
              </a:rPr>
              <a:t>$ git </a:t>
            </a:r>
            <a:r>
              <a:rPr lang="en-US" sz="800" dirty="0">
                <a:solidFill>
                  <a:srgbClr val="FF0000"/>
                </a:solidFill>
                <a:sym typeface="Wingdings" panose="05000000000000000000" pitchFamily="2" charset="2"/>
              </a:rPr>
              <a:t>checkout</a:t>
            </a:r>
            <a:r>
              <a:rPr lang="en-US" sz="800" dirty="0">
                <a:sym typeface="Wingdings" panose="05000000000000000000" pitchFamily="2" charset="2"/>
              </a:rPr>
              <a:t> </a:t>
            </a:r>
            <a:r>
              <a:rPr lang="en-US" sz="800" dirty="0" err="1">
                <a:solidFill>
                  <a:srgbClr val="CC00FF"/>
                </a:solidFill>
                <a:sym typeface="Wingdings" panose="05000000000000000000" pitchFamily="2" charset="2"/>
              </a:rPr>
              <a:t>localMasterBranch</a:t>
            </a:r>
            <a:r>
              <a:rPr lang="en-US" sz="800" dirty="0">
                <a:sym typeface="Wingdings" panose="05000000000000000000" pitchFamily="2" charset="2"/>
              </a:rPr>
              <a:t> </a:t>
            </a:r>
            <a:r>
              <a:rPr lang="en-US" sz="800" dirty="0">
                <a:solidFill>
                  <a:srgbClr val="00B050"/>
                </a:solidFill>
                <a:sym typeface="Wingdings" panose="05000000000000000000" pitchFamily="2" charset="2"/>
              </a:rPr>
              <a:t>(switch to the </a:t>
            </a:r>
            <a:r>
              <a:rPr lang="en-US" sz="800" dirty="0" err="1">
                <a:solidFill>
                  <a:srgbClr val="CC00FF"/>
                </a:solidFill>
                <a:sym typeface="Wingdings" panose="05000000000000000000" pitchFamily="2" charset="2"/>
              </a:rPr>
              <a:t>localMasterBranch</a:t>
            </a:r>
            <a:r>
              <a:rPr lang="en-US" sz="800" dirty="0">
                <a:solidFill>
                  <a:srgbClr val="00B050"/>
                </a:solidFill>
                <a:sym typeface="Wingdings" panose="05000000000000000000" pitchFamily="2" charset="2"/>
              </a:rPr>
              <a:t>)</a:t>
            </a:r>
            <a:endParaRPr lang="en-US" sz="800" dirty="0">
              <a:solidFill>
                <a:srgbClr val="00B050"/>
              </a:solidFill>
            </a:endParaRPr>
          </a:p>
          <a:p>
            <a:r>
              <a:rPr lang="en-US" sz="800" dirty="0">
                <a:sym typeface="Wingdings" panose="05000000000000000000" pitchFamily="2" charset="2"/>
              </a:rPr>
              <a:t>$ git </a:t>
            </a:r>
            <a:r>
              <a:rPr lang="en-US" sz="800" dirty="0">
                <a:solidFill>
                  <a:srgbClr val="FF0000"/>
                </a:solidFill>
                <a:sym typeface="Wingdings" panose="05000000000000000000" pitchFamily="2" charset="2"/>
              </a:rPr>
              <a:t>branch --merged</a:t>
            </a:r>
            <a:r>
              <a:rPr lang="en-US" sz="800" dirty="0">
                <a:solidFill>
                  <a:srgbClr val="00B050"/>
                </a:solidFill>
                <a:sym typeface="Wingdings" panose="05000000000000000000" pitchFamily="2" charset="2"/>
              </a:rPr>
              <a:t> (shows the history of branches merged to the current branch)</a:t>
            </a:r>
            <a:endParaRPr lang="en-US" sz="800" dirty="0">
              <a:solidFill>
                <a:srgbClr val="00B050"/>
              </a:solidFill>
            </a:endParaRPr>
          </a:p>
          <a:p>
            <a:r>
              <a:rPr lang="en-US" sz="800" dirty="0">
                <a:sym typeface="Wingdings" panose="05000000000000000000" pitchFamily="2" charset="2"/>
              </a:rPr>
              <a:t>$ git </a:t>
            </a:r>
            <a:r>
              <a:rPr lang="en-US" sz="800" dirty="0">
                <a:solidFill>
                  <a:srgbClr val="FF0000"/>
                </a:solidFill>
                <a:sym typeface="Wingdings" panose="05000000000000000000" pitchFamily="2" charset="2"/>
              </a:rPr>
              <a:t>merge</a:t>
            </a:r>
            <a:r>
              <a:rPr lang="en-US" sz="800" dirty="0">
                <a:sym typeface="Wingdings" panose="05000000000000000000" pitchFamily="2" charset="2"/>
              </a:rPr>
              <a:t> </a:t>
            </a:r>
            <a:r>
              <a:rPr lang="en-US" sz="800" dirty="0" err="1">
                <a:solidFill>
                  <a:srgbClr val="CC00FF"/>
                </a:solidFill>
                <a:sym typeface="Wingdings" panose="05000000000000000000" pitchFamily="2" charset="2"/>
              </a:rPr>
              <a:t>myBranch</a:t>
            </a:r>
            <a:r>
              <a:rPr lang="en-US" sz="800" dirty="0">
                <a:sym typeface="Wingdings" panose="05000000000000000000" pitchFamily="2" charset="2"/>
              </a:rPr>
              <a:t> </a:t>
            </a:r>
            <a:r>
              <a:rPr lang="en-US" sz="800" dirty="0">
                <a:solidFill>
                  <a:srgbClr val="00B050"/>
                </a:solidFill>
                <a:sym typeface="Wingdings" panose="05000000000000000000" pitchFamily="2" charset="2"/>
              </a:rPr>
              <a:t>(merges</a:t>
            </a:r>
            <a:r>
              <a:rPr lang="en-US" sz="800" dirty="0">
                <a:sym typeface="Wingdings" panose="05000000000000000000" pitchFamily="2" charset="2"/>
              </a:rPr>
              <a:t> </a:t>
            </a:r>
            <a:r>
              <a:rPr lang="en-US" sz="800" dirty="0" err="1">
                <a:solidFill>
                  <a:srgbClr val="CC00FF"/>
                </a:solidFill>
                <a:sym typeface="Wingdings" panose="05000000000000000000" pitchFamily="2" charset="2"/>
              </a:rPr>
              <a:t>myBanch</a:t>
            </a:r>
            <a:r>
              <a:rPr lang="en-US" sz="800" dirty="0">
                <a:solidFill>
                  <a:srgbClr val="00B050"/>
                </a:solidFill>
                <a:sym typeface="Wingdings" panose="05000000000000000000" pitchFamily="2" charset="2"/>
              </a:rPr>
              <a:t> to the current branch)</a:t>
            </a:r>
          </a:p>
          <a:p>
            <a:r>
              <a:rPr lang="en-US" sz="800" dirty="0"/>
              <a:t>$ git </a:t>
            </a:r>
            <a:r>
              <a:rPr lang="en-US" sz="800" dirty="0">
                <a:solidFill>
                  <a:srgbClr val="FF0000"/>
                </a:solidFill>
              </a:rPr>
              <a:t>push</a:t>
            </a:r>
            <a:r>
              <a:rPr lang="en-US" sz="800" dirty="0"/>
              <a:t> </a:t>
            </a:r>
            <a:r>
              <a:rPr lang="en-US" sz="800" dirty="0">
                <a:solidFill>
                  <a:srgbClr val="CC00FF"/>
                </a:solidFill>
              </a:rPr>
              <a:t>&lt;remote repository&gt; &lt;remote branch&gt; </a:t>
            </a:r>
            <a:r>
              <a:rPr lang="en-US" sz="800" dirty="0">
                <a:solidFill>
                  <a:srgbClr val="00B050"/>
                </a:solidFill>
              </a:rPr>
              <a:t>(transfers the merging to the remote Repository.)</a:t>
            </a:r>
          </a:p>
          <a:p>
            <a:endParaRPr lang="en-US" sz="800" dirty="0">
              <a:solidFill>
                <a:srgbClr val="00B050"/>
              </a:solidFill>
            </a:endParaRPr>
          </a:p>
          <a:p>
            <a:r>
              <a:rPr lang="en-US" sz="800" dirty="0"/>
              <a:t>Delete branch</a:t>
            </a:r>
          </a:p>
          <a:p>
            <a:r>
              <a:rPr lang="en-US" sz="800" dirty="0">
                <a:sym typeface="Wingdings" panose="05000000000000000000" pitchFamily="2" charset="2"/>
              </a:rPr>
              <a:t>$ git </a:t>
            </a:r>
            <a:r>
              <a:rPr lang="en-US" sz="800" dirty="0">
                <a:solidFill>
                  <a:srgbClr val="FF0000"/>
                </a:solidFill>
                <a:sym typeface="Wingdings" panose="05000000000000000000" pitchFamily="2" charset="2"/>
              </a:rPr>
              <a:t>branch -d</a:t>
            </a:r>
            <a:r>
              <a:rPr lang="en-US" sz="800" dirty="0">
                <a:sym typeface="Wingdings" panose="05000000000000000000" pitchFamily="2" charset="2"/>
              </a:rPr>
              <a:t> </a:t>
            </a:r>
            <a:r>
              <a:rPr lang="en-US" sz="800" dirty="0" err="1">
                <a:solidFill>
                  <a:srgbClr val="CC00FF"/>
                </a:solidFill>
              </a:rPr>
              <a:t>newBranch</a:t>
            </a:r>
            <a:r>
              <a:rPr lang="en-US" sz="800" dirty="0">
                <a:sym typeface="Wingdings" panose="05000000000000000000" pitchFamily="2" charset="2"/>
              </a:rPr>
              <a:t> </a:t>
            </a:r>
            <a:r>
              <a:rPr lang="en-US" sz="800" dirty="0">
                <a:solidFill>
                  <a:srgbClr val="00B050"/>
                </a:solidFill>
                <a:sym typeface="Wingdings" panose="05000000000000000000" pitchFamily="2" charset="2"/>
              </a:rPr>
              <a:t>(deletes a local </a:t>
            </a:r>
            <a:r>
              <a:rPr lang="en-US" sz="800" dirty="0" err="1">
                <a:solidFill>
                  <a:srgbClr val="CC00FF"/>
                </a:solidFill>
              </a:rPr>
              <a:t>newBranch</a:t>
            </a:r>
            <a:r>
              <a:rPr lang="en-US" sz="800" dirty="0">
                <a:solidFill>
                  <a:srgbClr val="CC00FF"/>
                </a:solidFill>
                <a:sym typeface="Wingdings" panose="05000000000000000000" pitchFamily="2" charset="2"/>
              </a:rPr>
              <a:t> </a:t>
            </a:r>
            <a:r>
              <a:rPr lang="en-US" sz="800" dirty="0">
                <a:solidFill>
                  <a:srgbClr val="00B050"/>
                </a:solidFill>
                <a:sym typeface="Wingdings" panose="05000000000000000000" pitchFamily="2" charset="2"/>
              </a:rPr>
              <a:t>)</a:t>
            </a:r>
            <a:endParaRPr lang="en-US" sz="800" dirty="0">
              <a:solidFill>
                <a:srgbClr val="00B050"/>
              </a:solidFill>
            </a:endParaRPr>
          </a:p>
          <a:p>
            <a:r>
              <a:rPr lang="en-US" sz="800" dirty="0"/>
              <a:t>$ git </a:t>
            </a:r>
            <a:r>
              <a:rPr lang="en-US" sz="800" dirty="0">
                <a:solidFill>
                  <a:srgbClr val="FF0000"/>
                </a:solidFill>
              </a:rPr>
              <a:t>push</a:t>
            </a:r>
            <a:r>
              <a:rPr lang="en-US" sz="800" dirty="0"/>
              <a:t> </a:t>
            </a:r>
            <a:r>
              <a:rPr lang="en-US" sz="800" dirty="0">
                <a:solidFill>
                  <a:srgbClr val="CC00FF"/>
                </a:solidFill>
              </a:rPr>
              <a:t>&lt;remote repository&gt; </a:t>
            </a:r>
            <a:r>
              <a:rPr lang="en-US" sz="800" dirty="0">
                <a:solidFill>
                  <a:srgbClr val="FF0000"/>
                </a:solidFill>
              </a:rPr>
              <a:t>--delete </a:t>
            </a:r>
            <a:r>
              <a:rPr lang="en-US" sz="800" dirty="0">
                <a:solidFill>
                  <a:srgbClr val="CC00FF"/>
                </a:solidFill>
              </a:rPr>
              <a:t>&lt;remote branch&gt; </a:t>
            </a:r>
            <a:r>
              <a:rPr lang="en-US" sz="800" dirty="0">
                <a:solidFill>
                  <a:srgbClr val="00B050"/>
                </a:solidFill>
              </a:rPr>
              <a:t>(delete the remote Repository.)</a:t>
            </a:r>
          </a:p>
        </p:txBody>
      </p:sp>
      <p:grpSp>
        <p:nvGrpSpPr>
          <p:cNvPr id="28" name="Group 27">
            <a:extLst>
              <a:ext uri="{FF2B5EF4-FFF2-40B4-BE49-F238E27FC236}">
                <a16:creationId xmlns:a16="http://schemas.microsoft.com/office/drawing/2014/main" id="{7C4E5E84-13EC-49AC-A5B1-712507FA64BD}"/>
              </a:ext>
            </a:extLst>
          </p:cNvPr>
          <p:cNvGrpSpPr/>
          <p:nvPr/>
        </p:nvGrpSpPr>
        <p:grpSpPr>
          <a:xfrm>
            <a:off x="103308" y="46718"/>
            <a:ext cx="11614618" cy="1912463"/>
            <a:chOff x="6152358" y="581577"/>
            <a:chExt cx="5395694" cy="1912463"/>
          </a:xfrm>
        </p:grpSpPr>
        <p:sp>
          <p:nvSpPr>
            <p:cNvPr id="10" name="Rectangle 9">
              <a:extLst>
                <a:ext uri="{FF2B5EF4-FFF2-40B4-BE49-F238E27FC236}">
                  <a16:creationId xmlns:a16="http://schemas.microsoft.com/office/drawing/2014/main" id="{637D841F-3EAC-434F-BAED-EFB61D7EECC8}"/>
                </a:ext>
              </a:extLst>
            </p:cNvPr>
            <p:cNvSpPr/>
            <p:nvPr/>
          </p:nvSpPr>
          <p:spPr>
            <a:xfrm>
              <a:off x="6324600" y="581577"/>
              <a:ext cx="3441720" cy="19124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0" name="Straight Connector 19">
              <a:extLst>
                <a:ext uri="{FF2B5EF4-FFF2-40B4-BE49-F238E27FC236}">
                  <a16:creationId xmlns:a16="http://schemas.microsoft.com/office/drawing/2014/main" id="{B290358C-3608-45F5-AA0C-8A056BB92E5E}"/>
                </a:ext>
              </a:extLst>
            </p:cNvPr>
            <p:cNvCxnSpPr>
              <a:cxnSpLocks/>
              <a:stCxn id="13" idx="2"/>
            </p:cNvCxnSpPr>
            <p:nvPr/>
          </p:nvCxnSpPr>
          <p:spPr>
            <a:xfrm flipH="1">
              <a:off x="9233395" y="961182"/>
              <a:ext cx="12834" cy="15328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091013F-C0AD-4001-A8A3-36EED6C89FA0}"/>
                </a:ext>
              </a:extLst>
            </p:cNvPr>
            <p:cNvCxnSpPr>
              <a:cxnSpLocks/>
              <a:stCxn id="11" idx="2"/>
            </p:cNvCxnSpPr>
            <p:nvPr/>
          </p:nvCxnSpPr>
          <p:spPr>
            <a:xfrm flipH="1">
              <a:off x="6834006" y="954056"/>
              <a:ext cx="1" cy="15399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0EEC78C-72B6-4B36-BC6B-857AAD738A72}"/>
                </a:ext>
              </a:extLst>
            </p:cNvPr>
            <p:cNvCxnSpPr>
              <a:cxnSpLocks/>
              <a:stCxn id="12" idx="2"/>
              <a:endCxn id="10" idx="2"/>
            </p:cNvCxnSpPr>
            <p:nvPr/>
          </p:nvCxnSpPr>
          <p:spPr>
            <a:xfrm>
              <a:off x="8039110" y="961182"/>
              <a:ext cx="6351" cy="15328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74A282CD-2D71-455E-98E0-7E0B70B991BA}"/>
                </a:ext>
              </a:extLst>
            </p:cNvPr>
            <p:cNvSpPr/>
            <p:nvPr/>
          </p:nvSpPr>
          <p:spPr>
            <a:xfrm>
              <a:off x="10082088" y="581577"/>
              <a:ext cx="1465964" cy="1912463"/>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BFF47C70-AD2B-4A37-B5A9-AF0C944461AB}"/>
                </a:ext>
              </a:extLst>
            </p:cNvPr>
            <p:cNvGrpSpPr/>
            <p:nvPr/>
          </p:nvGrpSpPr>
          <p:grpSpPr>
            <a:xfrm>
              <a:off x="6152358" y="1135674"/>
              <a:ext cx="4195866" cy="1338047"/>
              <a:chOff x="8406608" y="1129324"/>
              <a:chExt cx="4195866" cy="1338047"/>
            </a:xfrm>
          </p:grpSpPr>
          <p:sp>
            <p:nvSpPr>
              <p:cNvPr id="3" name="Arrow: Right 2">
                <a:extLst>
                  <a:ext uri="{FF2B5EF4-FFF2-40B4-BE49-F238E27FC236}">
                    <a16:creationId xmlns:a16="http://schemas.microsoft.com/office/drawing/2014/main" id="{ACABFD38-A171-4769-B254-A737B6DC440A}"/>
                  </a:ext>
                </a:extLst>
              </p:cNvPr>
              <p:cNvSpPr/>
              <p:nvPr/>
            </p:nvSpPr>
            <p:spPr>
              <a:xfrm>
                <a:off x="9088256" y="1503754"/>
                <a:ext cx="1184458" cy="317367"/>
              </a:xfrm>
              <a:prstGeom prst="rightArrow">
                <a:avLst>
                  <a:gd name="adj1" fmla="val 60492"/>
                  <a:gd name="adj2" fmla="val 16402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git add</a:t>
                </a:r>
              </a:p>
            </p:txBody>
          </p:sp>
          <p:sp>
            <p:nvSpPr>
              <p:cNvPr id="8" name="Arrow: Right 7">
                <a:extLst>
                  <a:ext uri="{FF2B5EF4-FFF2-40B4-BE49-F238E27FC236}">
                    <a16:creationId xmlns:a16="http://schemas.microsoft.com/office/drawing/2014/main" id="{004B2D27-A159-463F-B615-5F9F959425A0}"/>
                  </a:ext>
                </a:extLst>
              </p:cNvPr>
              <p:cNvSpPr/>
              <p:nvPr/>
            </p:nvSpPr>
            <p:spPr>
              <a:xfrm>
                <a:off x="10299710" y="2024372"/>
                <a:ext cx="1177670" cy="317367"/>
              </a:xfrm>
              <a:prstGeom prst="rightArrow">
                <a:avLst>
                  <a:gd name="adj1" fmla="val 60492"/>
                  <a:gd name="adj2" fmla="val 16402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git commit –m “my comment here”</a:t>
                </a:r>
              </a:p>
            </p:txBody>
          </p:sp>
          <p:sp>
            <p:nvSpPr>
              <p:cNvPr id="27" name="Arrow: Right 26">
                <a:extLst>
                  <a:ext uri="{FF2B5EF4-FFF2-40B4-BE49-F238E27FC236}">
                    <a16:creationId xmlns:a16="http://schemas.microsoft.com/office/drawing/2014/main" id="{151E4B80-2575-4874-9F67-CF16EDBD2DBE}"/>
                  </a:ext>
                </a:extLst>
              </p:cNvPr>
              <p:cNvSpPr/>
              <p:nvPr/>
            </p:nvSpPr>
            <p:spPr>
              <a:xfrm>
                <a:off x="11488748" y="2150004"/>
                <a:ext cx="1112759" cy="317367"/>
              </a:xfrm>
              <a:prstGeom prst="rightArrow">
                <a:avLst>
                  <a:gd name="adj1" fmla="val 60492"/>
                  <a:gd name="adj2" fmla="val 16402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git push</a:t>
                </a:r>
              </a:p>
            </p:txBody>
          </p:sp>
          <p:sp>
            <p:nvSpPr>
              <p:cNvPr id="9" name="Arrow: Right 8">
                <a:extLst>
                  <a:ext uri="{FF2B5EF4-FFF2-40B4-BE49-F238E27FC236}">
                    <a16:creationId xmlns:a16="http://schemas.microsoft.com/office/drawing/2014/main" id="{B3FC0F5E-EB63-4C34-BEDF-0D413B472610}"/>
                  </a:ext>
                </a:extLst>
              </p:cNvPr>
              <p:cNvSpPr/>
              <p:nvPr/>
            </p:nvSpPr>
            <p:spPr>
              <a:xfrm flipH="1">
                <a:off x="9078727" y="1132309"/>
                <a:ext cx="3523747" cy="317367"/>
              </a:xfrm>
              <a:prstGeom prst="rightArrow">
                <a:avLst>
                  <a:gd name="adj1" fmla="val 60492"/>
                  <a:gd name="adj2" fmla="val 175277"/>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git clone</a:t>
                </a:r>
              </a:p>
            </p:txBody>
          </p:sp>
          <p:sp>
            <p:nvSpPr>
              <p:cNvPr id="23" name="Arrow: Right 22">
                <a:extLst>
                  <a:ext uri="{FF2B5EF4-FFF2-40B4-BE49-F238E27FC236}">
                    <a16:creationId xmlns:a16="http://schemas.microsoft.com/office/drawing/2014/main" id="{B22C4456-B54D-4A8B-B4B3-69D7025D451F}"/>
                  </a:ext>
                </a:extLst>
              </p:cNvPr>
              <p:cNvSpPr/>
              <p:nvPr/>
            </p:nvSpPr>
            <p:spPr>
              <a:xfrm flipH="1">
                <a:off x="9097785" y="1889556"/>
                <a:ext cx="1201925" cy="317367"/>
              </a:xfrm>
              <a:prstGeom prst="rightArrow">
                <a:avLst>
                  <a:gd name="adj1" fmla="val 60492"/>
                  <a:gd name="adj2" fmla="val 16402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git reset</a:t>
                </a:r>
              </a:p>
            </p:txBody>
          </p:sp>
          <p:sp>
            <p:nvSpPr>
              <p:cNvPr id="29" name="Arrow: Right 28">
                <a:extLst>
                  <a:ext uri="{FF2B5EF4-FFF2-40B4-BE49-F238E27FC236}">
                    <a16:creationId xmlns:a16="http://schemas.microsoft.com/office/drawing/2014/main" id="{3293680D-632F-42C5-A04A-BE4F98EE0586}"/>
                  </a:ext>
                </a:extLst>
              </p:cNvPr>
              <p:cNvSpPr/>
              <p:nvPr/>
            </p:nvSpPr>
            <p:spPr>
              <a:xfrm>
                <a:off x="8406608" y="1129324"/>
                <a:ext cx="684827" cy="317367"/>
              </a:xfrm>
              <a:prstGeom prst="rightArrow">
                <a:avLst>
                  <a:gd name="adj1" fmla="val 60492"/>
                  <a:gd name="adj2" fmla="val 16402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 touch</a:t>
                </a:r>
              </a:p>
            </p:txBody>
          </p:sp>
        </p:grpSp>
        <p:sp>
          <p:nvSpPr>
            <p:cNvPr id="11" name="Rectangle 10">
              <a:extLst>
                <a:ext uri="{FF2B5EF4-FFF2-40B4-BE49-F238E27FC236}">
                  <a16:creationId xmlns:a16="http://schemas.microsoft.com/office/drawing/2014/main" id="{40236D56-7C03-470B-B232-8B49B1FD43DA}"/>
                </a:ext>
              </a:extLst>
            </p:cNvPr>
            <p:cNvSpPr/>
            <p:nvPr/>
          </p:nvSpPr>
          <p:spPr>
            <a:xfrm>
              <a:off x="6481507" y="635482"/>
              <a:ext cx="704999" cy="3185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Working Directory</a:t>
              </a:r>
            </a:p>
          </p:txBody>
        </p:sp>
        <p:sp>
          <p:nvSpPr>
            <p:cNvPr id="12" name="Rectangle 11">
              <a:extLst>
                <a:ext uri="{FF2B5EF4-FFF2-40B4-BE49-F238E27FC236}">
                  <a16:creationId xmlns:a16="http://schemas.microsoft.com/office/drawing/2014/main" id="{CE036355-12F4-4B53-ABFF-C7A374FD5D12}"/>
                </a:ext>
              </a:extLst>
            </p:cNvPr>
            <p:cNvSpPr/>
            <p:nvPr/>
          </p:nvSpPr>
          <p:spPr>
            <a:xfrm>
              <a:off x="7719826" y="642608"/>
              <a:ext cx="638567" cy="31857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Staging Area</a:t>
              </a:r>
            </a:p>
          </p:txBody>
        </p:sp>
        <p:sp>
          <p:nvSpPr>
            <p:cNvPr id="13" name="Rectangle 12">
              <a:extLst>
                <a:ext uri="{FF2B5EF4-FFF2-40B4-BE49-F238E27FC236}">
                  <a16:creationId xmlns:a16="http://schemas.microsoft.com/office/drawing/2014/main" id="{FA46F286-0405-4F58-81CC-D6A8DD44D0E2}"/>
                </a:ext>
              </a:extLst>
            </p:cNvPr>
            <p:cNvSpPr/>
            <p:nvPr/>
          </p:nvSpPr>
          <p:spPr>
            <a:xfrm>
              <a:off x="8747754" y="642608"/>
              <a:ext cx="996950" cy="3185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.git directory (Local repository)</a:t>
              </a:r>
            </a:p>
          </p:txBody>
        </p:sp>
        <p:sp>
          <p:nvSpPr>
            <p:cNvPr id="25" name="Rectangle 24">
              <a:extLst>
                <a:ext uri="{FF2B5EF4-FFF2-40B4-BE49-F238E27FC236}">
                  <a16:creationId xmlns:a16="http://schemas.microsoft.com/office/drawing/2014/main" id="{E7669022-E592-430A-B7F3-102357F4AE92}"/>
                </a:ext>
              </a:extLst>
            </p:cNvPr>
            <p:cNvSpPr/>
            <p:nvPr/>
          </p:nvSpPr>
          <p:spPr>
            <a:xfrm>
              <a:off x="10208254" y="649736"/>
              <a:ext cx="1219148" cy="31857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.git directory </a:t>
              </a:r>
            </a:p>
            <a:p>
              <a:pPr algn="ctr"/>
              <a:r>
                <a:rPr lang="en-US" sz="900" dirty="0"/>
                <a:t>(Remote repository)</a:t>
              </a:r>
            </a:p>
          </p:txBody>
        </p:sp>
      </p:grpSp>
    </p:spTree>
    <p:extLst>
      <p:ext uri="{BB962C8B-B14F-4D97-AF65-F5344CB8AC3E}">
        <p14:creationId xmlns:p14="http://schemas.microsoft.com/office/powerpoint/2010/main" val="2676858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TotalTime>
  <Words>606</Words>
  <Application>Microsoft Office PowerPoint</Application>
  <PresentationFormat>Widescreen</PresentationFormat>
  <Paragraphs>47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Simon Hong</dc:creator>
  <cp:lastModifiedBy>Simon Hong</cp:lastModifiedBy>
  <cp:revision>37</cp:revision>
  <dcterms:created xsi:type="dcterms:W3CDTF">2020-01-31T13:42:07Z</dcterms:created>
  <dcterms:modified xsi:type="dcterms:W3CDTF">2020-02-11T12:49:33Z</dcterms:modified>
</cp:coreProperties>
</file>