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501" r:id="rId2"/>
    <p:sldId id="393" r:id="rId3"/>
    <p:sldId id="395" r:id="rId4"/>
    <p:sldId id="502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7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16574-07B8-4F46-9604-8D73C26BF703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68124-5C51-49FD-9E37-4102CC212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22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75"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35810" indent="-283004" defTabSz="913475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32018" indent="-226403" defTabSz="913475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584822" indent="-226403" defTabSz="913475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37629" indent="-226403" defTabSz="913475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490436" indent="-226403" defTabSz="9134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43243" indent="-226403" defTabSz="9134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396050" indent="-226403" defTabSz="9134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48855" indent="-226403" defTabSz="9134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E325AB8-3038-4E7E-87D1-64B17FC4413E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5357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0B3058F-8CFA-436F-A706-815EA9AE972B}" type="slidenum">
              <a:rPr lang="en-US"/>
              <a:pPr eaLnBrk="1" hangingPunct="1"/>
              <a:t>2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dirty="0"/>
              <a:t>Motivation is measured by the Error rate and reaction time.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dirty="0"/>
              <a:t>Is motivation a limited resource within a set time period? Motivation can last reasonably long (dopamine action; Iron</a:t>
            </a:r>
            <a:r>
              <a:rPr lang="en-US" baseline="0" dirty="0"/>
              <a:t> Man Triathlon</a:t>
            </a:r>
            <a:r>
              <a:rPr lang="en-US" dirty="0"/>
              <a:t>) but in some cases, may need some boost. Drowsy drivers,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kamikaze </a:t>
            </a:r>
            <a:r>
              <a:rPr lang="en-US" dirty="0"/>
              <a:t>pilots.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dirty="0"/>
              <a:t>What are some of the proven ways to replenish it? </a:t>
            </a:r>
            <a:r>
              <a:rPr lang="en-US" dirty="0">
                <a:sym typeface="Wingdings" panose="05000000000000000000" pitchFamily="2" charset="2"/>
              </a:rPr>
              <a:t> Can do sprit; never give up! By fantasizing the prospect.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109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0B3058F-8CFA-436F-A706-815EA9AE972B}" type="slidenum">
              <a:rPr lang="en-US"/>
              <a:pPr eaLnBrk="1" hangingPunct="1"/>
              <a:t>3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dirty="0"/>
              <a:t>Motivation is measured by the Error rate and reaction time.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dirty="0"/>
              <a:t>Is motivation a limited resource within a set time period? Motivation can last reasonably long (dopamine action; Iron</a:t>
            </a:r>
            <a:r>
              <a:rPr lang="en-US" baseline="0" dirty="0"/>
              <a:t> Man Triathlon</a:t>
            </a:r>
            <a:r>
              <a:rPr lang="en-US" dirty="0"/>
              <a:t>) but in some cases, may need some boost. Drowsy drivers,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kamikaze </a:t>
            </a:r>
            <a:r>
              <a:rPr lang="en-US" dirty="0"/>
              <a:t>pilots.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dirty="0"/>
              <a:t>What are some of the proven ways to replenish it? </a:t>
            </a:r>
            <a:r>
              <a:rPr lang="en-US" dirty="0">
                <a:sym typeface="Wingdings" panose="05000000000000000000" pitchFamily="2" charset="2"/>
              </a:rPr>
              <a:t> Can do sprit; never give up! By fantasizing the prospect.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078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475" eaLnBrk="0" hangingPunct="0">
              <a:defRPr sz="3600">
                <a:solidFill>
                  <a:schemeClr val="tx1"/>
                </a:solidFill>
                <a:latin typeface="Arial" charset="0"/>
              </a:defRPr>
            </a:lvl1pPr>
            <a:lvl2pPr marL="735810" indent="-283004" defTabSz="913475" eaLnBrk="0" hangingPunct="0">
              <a:defRPr sz="3600">
                <a:solidFill>
                  <a:schemeClr val="tx1"/>
                </a:solidFill>
                <a:latin typeface="Arial" charset="0"/>
              </a:defRPr>
            </a:lvl2pPr>
            <a:lvl3pPr marL="1132018" indent="-226403" defTabSz="913475" eaLnBrk="0" hangingPunct="0">
              <a:defRPr sz="3600">
                <a:solidFill>
                  <a:schemeClr val="tx1"/>
                </a:solidFill>
                <a:latin typeface="Arial" charset="0"/>
              </a:defRPr>
            </a:lvl3pPr>
            <a:lvl4pPr marL="1584822" indent="-226403" defTabSz="913475" eaLnBrk="0" hangingPunct="0">
              <a:defRPr sz="3600">
                <a:solidFill>
                  <a:schemeClr val="tx1"/>
                </a:solidFill>
                <a:latin typeface="Arial" charset="0"/>
              </a:defRPr>
            </a:lvl4pPr>
            <a:lvl5pPr marL="2037629" indent="-226403" defTabSz="913475" eaLnBrk="0" hangingPunct="0">
              <a:defRPr sz="3600">
                <a:solidFill>
                  <a:schemeClr val="tx1"/>
                </a:solidFill>
                <a:latin typeface="Arial" charset="0"/>
              </a:defRPr>
            </a:lvl5pPr>
            <a:lvl6pPr marL="2490436" indent="-226403" defTabSz="9134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6pPr>
            <a:lvl7pPr marL="2943243" indent="-226403" defTabSz="9134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7pPr>
            <a:lvl8pPr marL="3396050" indent="-226403" defTabSz="9134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8pPr>
            <a:lvl9pPr marL="3848855" indent="-226403" defTabSz="913475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E325AB8-3038-4E7E-87D1-64B17FC4413E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7686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1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3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8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74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19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2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0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3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9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03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16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21FD2-81B6-41AD-80CF-83CA4234A76A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951B2-A207-4040-A919-8AC7BDA4A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7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8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0.png"/><Relationship Id="rId5" Type="http://schemas.openxmlformats.org/officeDocument/2006/relationships/image" Target="../media/image470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Monkey’s Decision Making</a:t>
            </a: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714" y="1981324"/>
            <a:ext cx="2951247" cy="2714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349" y="1982614"/>
            <a:ext cx="2980921" cy="271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" y="1969526"/>
            <a:ext cx="3007122" cy="274178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984993" y="1600200"/>
            <a:ext cx="1142999" cy="55378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600" b="1" kern="12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3</a:t>
            </a:r>
            <a:r>
              <a:rPr lang="en-US" sz="1600" b="1" kern="1200" baseline="300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rd</a:t>
            </a:r>
            <a:r>
              <a:rPr lang="en-US" sz="1600" b="1" kern="12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 session</a:t>
            </a:r>
            <a:endParaRPr lang="en-US" sz="3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26304" y="1595775"/>
            <a:ext cx="1142999" cy="55378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600" b="1" kern="12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5</a:t>
            </a:r>
            <a:r>
              <a:rPr lang="en-US" sz="1600" b="1" kern="1200" baseline="300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th</a:t>
            </a:r>
            <a:r>
              <a:rPr lang="en-US" sz="1600" b="1" kern="12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 session</a:t>
            </a:r>
            <a:endParaRPr lang="en-US" sz="3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52566" y="1592825"/>
            <a:ext cx="1142999" cy="55378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600" b="1" kern="12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14</a:t>
            </a:r>
            <a:r>
              <a:rPr lang="en-US" sz="1600" b="1" kern="1200" baseline="300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th</a:t>
            </a:r>
            <a:r>
              <a:rPr lang="en-US" sz="1600" b="1" kern="12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 session</a:t>
            </a:r>
            <a:endParaRPr lang="en-US" sz="32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712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09600"/>
          </a:xfrm>
          <a:solidFill>
            <a:srgbClr val="EAEAEA"/>
          </a:solidFill>
        </p:spPr>
        <p:txBody>
          <a:bodyPr/>
          <a:lstStyle/>
          <a:p>
            <a:pPr marL="762000" indent="-762000" eaLnBrk="1" hangingPunct="1"/>
            <a:r>
              <a:rPr lang="en-US" altLang="ja-JP" sz="3600" b="1" dirty="0">
                <a:solidFill>
                  <a:srgbClr val="FF0000"/>
                </a:solidFill>
                <a:ea typeface="ＭＳ Ｐゴシック" pitchFamily="34" charset="-128"/>
              </a:rPr>
              <a:t>Equation of Motivation</a:t>
            </a:r>
            <a:endParaRPr lang="en-US" sz="36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38879" y="658304"/>
                <a:ext cx="83820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Motivation is measurable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monkey</m:t>
                    </m:r>
                  </m:oMath>
                </a14:m>
                <a:r>
                  <a:rPr lang="en-US" dirty="0"/>
                  <a:t>)!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79" y="658304"/>
                <a:ext cx="8382000" cy="369332"/>
              </a:xfrm>
              <a:prstGeom prst="rect">
                <a:avLst/>
              </a:prstGeom>
              <a:blipFill>
                <a:blip r:embed="rId3"/>
                <a:stretch>
                  <a:fillRect l="-655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3691971" y="1295400"/>
            <a:ext cx="2327829" cy="1568116"/>
            <a:chOff x="5689383" y="1600200"/>
            <a:chExt cx="2768817" cy="1865183"/>
          </a:xfrm>
        </p:grpSpPr>
        <p:sp>
          <p:nvSpPr>
            <p:cNvPr id="6" name="Freeform: Shape 5"/>
            <p:cNvSpPr/>
            <p:nvPr/>
          </p:nvSpPr>
          <p:spPr>
            <a:xfrm>
              <a:off x="6096000" y="1676400"/>
              <a:ext cx="1682262" cy="1418492"/>
            </a:xfrm>
            <a:custGeom>
              <a:avLst/>
              <a:gdLst>
                <a:gd name="connsiteX0" fmla="*/ 0 w 1500554"/>
                <a:gd name="connsiteY0" fmla="*/ 0 h 1189892"/>
                <a:gd name="connsiteX1" fmla="*/ 0 w 1500554"/>
                <a:gd name="connsiteY1" fmla="*/ 1189892 h 1189892"/>
                <a:gd name="connsiteX2" fmla="*/ 1500554 w 1500554"/>
                <a:gd name="connsiteY2" fmla="*/ 1189892 h 1189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00554" h="1189892">
                  <a:moveTo>
                    <a:pt x="0" y="0"/>
                  </a:moveTo>
                  <a:lnTo>
                    <a:pt x="0" y="1189892"/>
                  </a:lnTo>
                  <a:lnTo>
                    <a:pt x="1500554" y="1189892"/>
                  </a:lnTo>
                </a:path>
              </a:pathLst>
            </a:custGeom>
            <a:noFill/>
            <a:ln>
              <a:solidFill>
                <a:srgbClr val="0070C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010400" y="3135909"/>
              <a:ext cx="1447800" cy="3294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rgbClr val="99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Satiation</a:t>
              </a:r>
            </a:p>
          </p:txBody>
        </p:sp>
        <p:sp>
          <p:nvSpPr>
            <p:cNvPr id="9" name="Rectangle 8"/>
            <p:cNvSpPr/>
            <p:nvPr/>
          </p:nvSpPr>
          <p:spPr>
            <a:xfrm rot="16200000">
              <a:off x="5210959" y="2078624"/>
              <a:ext cx="123384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Motivation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04800" y="1316068"/>
            <a:ext cx="2290771" cy="1547564"/>
            <a:chOff x="5689383" y="1600200"/>
            <a:chExt cx="2768817" cy="1870514"/>
          </a:xfrm>
        </p:grpSpPr>
        <p:sp>
          <p:nvSpPr>
            <p:cNvPr id="17" name="Freeform: Shape 16"/>
            <p:cNvSpPr/>
            <p:nvPr/>
          </p:nvSpPr>
          <p:spPr>
            <a:xfrm>
              <a:off x="6096000" y="1676400"/>
              <a:ext cx="1682262" cy="1418492"/>
            </a:xfrm>
            <a:custGeom>
              <a:avLst/>
              <a:gdLst>
                <a:gd name="connsiteX0" fmla="*/ 0 w 1500554"/>
                <a:gd name="connsiteY0" fmla="*/ 0 h 1189892"/>
                <a:gd name="connsiteX1" fmla="*/ 0 w 1500554"/>
                <a:gd name="connsiteY1" fmla="*/ 1189892 h 1189892"/>
                <a:gd name="connsiteX2" fmla="*/ 1500554 w 1500554"/>
                <a:gd name="connsiteY2" fmla="*/ 1189892 h 1189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00554" h="1189892">
                  <a:moveTo>
                    <a:pt x="0" y="0"/>
                  </a:moveTo>
                  <a:lnTo>
                    <a:pt x="0" y="1189892"/>
                  </a:lnTo>
                  <a:lnTo>
                    <a:pt x="1500554" y="1189892"/>
                  </a:lnTo>
                </a:path>
              </a:pathLst>
            </a:custGeom>
            <a:noFill/>
            <a:ln>
              <a:solidFill>
                <a:srgbClr val="0070C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010400" y="3135910"/>
              <a:ext cx="1447800" cy="334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Reward</a:t>
              </a:r>
            </a:p>
          </p:txBody>
        </p:sp>
        <p:sp>
          <p:nvSpPr>
            <p:cNvPr id="20" name="Rectangle 19"/>
            <p:cNvSpPr/>
            <p:nvPr/>
          </p:nvSpPr>
          <p:spPr>
            <a:xfrm rot="16200000">
              <a:off x="5210959" y="2078624"/>
              <a:ext cx="123384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Motivation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010402" y="1321814"/>
            <a:ext cx="1828799" cy="1547564"/>
            <a:chOff x="5689383" y="1600200"/>
            <a:chExt cx="2210438" cy="1870514"/>
          </a:xfrm>
        </p:grpSpPr>
        <p:sp>
          <p:nvSpPr>
            <p:cNvPr id="27" name="Freeform: Shape 26"/>
            <p:cNvSpPr/>
            <p:nvPr/>
          </p:nvSpPr>
          <p:spPr>
            <a:xfrm>
              <a:off x="6096000" y="1676400"/>
              <a:ext cx="1682262" cy="1418492"/>
            </a:xfrm>
            <a:custGeom>
              <a:avLst/>
              <a:gdLst>
                <a:gd name="connsiteX0" fmla="*/ 0 w 1500554"/>
                <a:gd name="connsiteY0" fmla="*/ 0 h 1189892"/>
                <a:gd name="connsiteX1" fmla="*/ 0 w 1500554"/>
                <a:gd name="connsiteY1" fmla="*/ 1189892 h 1189892"/>
                <a:gd name="connsiteX2" fmla="*/ 1500554 w 1500554"/>
                <a:gd name="connsiteY2" fmla="*/ 1189892 h 1189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00554" h="1189892">
                  <a:moveTo>
                    <a:pt x="0" y="0"/>
                  </a:moveTo>
                  <a:lnTo>
                    <a:pt x="0" y="1189892"/>
                  </a:lnTo>
                  <a:lnTo>
                    <a:pt x="1500554" y="1189892"/>
                  </a:lnTo>
                </a:path>
              </a:pathLst>
            </a:custGeom>
            <a:noFill/>
            <a:ln>
              <a:solidFill>
                <a:srgbClr val="0070C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188835" y="3135910"/>
              <a:ext cx="710986" cy="334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rgbClr val="FF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Delay</a:t>
              </a:r>
            </a:p>
          </p:txBody>
        </p:sp>
        <p:sp>
          <p:nvSpPr>
            <p:cNvPr id="30" name="Rectangle 29"/>
            <p:cNvSpPr/>
            <p:nvPr/>
          </p:nvSpPr>
          <p:spPr>
            <a:xfrm rot="16200000">
              <a:off x="5210959" y="2078624"/>
              <a:ext cx="123384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Motivation</a:t>
              </a:r>
            </a:p>
          </p:txBody>
        </p:sp>
      </p:grpSp>
      <p:sp>
        <p:nvSpPr>
          <p:cNvPr id="33" name="Freeform: Shape 32"/>
          <p:cNvSpPr/>
          <p:nvPr/>
        </p:nvSpPr>
        <p:spPr>
          <a:xfrm flipV="1">
            <a:off x="650913" y="1485802"/>
            <a:ext cx="1278477" cy="1062022"/>
          </a:xfrm>
          <a:custGeom>
            <a:avLst/>
            <a:gdLst>
              <a:gd name="connsiteX0" fmla="*/ 0 w 1412631"/>
              <a:gd name="connsiteY0" fmla="*/ 1066814 h 1066814"/>
              <a:gd name="connsiteX1" fmla="*/ 738554 w 1412631"/>
              <a:gd name="connsiteY1" fmla="*/ 14 h 1066814"/>
              <a:gd name="connsiteX2" fmla="*/ 1412631 w 1412631"/>
              <a:gd name="connsiteY2" fmla="*/ 1043367 h 1066814"/>
              <a:gd name="connsiteX0" fmla="*/ 0 w 1412631"/>
              <a:gd name="connsiteY0" fmla="*/ 464427 h 464427"/>
              <a:gd name="connsiteX1" fmla="*/ 803031 w 1412631"/>
              <a:gd name="connsiteY1" fmla="*/ 1365 h 464427"/>
              <a:gd name="connsiteX2" fmla="*/ 1412631 w 1412631"/>
              <a:gd name="connsiteY2" fmla="*/ 440980 h 464427"/>
              <a:gd name="connsiteX0" fmla="*/ 0 w 1459524"/>
              <a:gd name="connsiteY0" fmla="*/ 1161530 h 1161530"/>
              <a:gd name="connsiteX1" fmla="*/ 803031 w 1459524"/>
              <a:gd name="connsiteY1" fmla="*/ 698468 h 1161530"/>
              <a:gd name="connsiteX2" fmla="*/ 1459524 w 1459524"/>
              <a:gd name="connsiteY2" fmla="*/ 47837 h 1161530"/>
              <a:gd name="connsiteX0" fmla="*/ 0 w 1459524"/>
              <a:gd name="connsiteY0" fmla="*/ 1113693 h 1113693"/>
              <a:gd name="connsiteX1" fmla="*/ 803031 w 1459524"/>
              <a:gd name="connsiteY1" fmla="*/ 650631 h 1113693"/>
              <a:gd name="connsiteX2" fmla="*/ 1459524 w 1459524"/>
              <a:gd name="connsiteY2" fmla="*/ 0 h 1113693"/>
              <a:gd name="connsiteX0" fmla="*/ 0 w 1459524"/>
              <a:gd name="connsiteY0" fmla="*/ 1113693 h 1113693"/>
              <a:gd name="connsiteX1" fmla="*/ 803031 w 1459524"/>
              <a:gd name="connsiteY1" fmla="*/ 650631 h 1113693"/>
              <a:gd name="connsiteX2" fmla="*/ 1459524 w 1459524"/>
              <a:gd name="connsiteY2" fmla="*/ 0 h 1113693"/>
              <a:gd name="connsiteX0" fmla="*/ 0 w 1459524"/>
              <a:gd name="connsiteY0" fmla="*/ 1113693 h 1113693"/>
              <a:gd name="connsiteX1" fmla="*/ 1459524 w 1459524"/>
              <a:gd name="connsiteY1" fmla="*/ 0 h 1113693"/>
              <a:gd name="connsiteX0" fmla="*/ 0 w 1582616"/>
              <a:gd name="connsiteY0" fmla="*/ 1137139 h 1137139"/>
              <a:gd name="connsiteX1" fmla="*/ 1582616 w 1582616"/>
              <a:gd name="connsiteY1" fmla="*/ 0 h 1137139"/>
              <a:gd name="connsiteX0" fmla="*/ 0 w 1582616"/>
              <a:gd name="connsiteY0" fmla="*/ 1137139 h 1137139"/>
              <a:gd name="connsiteX1" fmla="*/ 1582616 w 1582616"/>
              <a:gd name="connsiteY1" fmla="*/ 0 h 1137139"/>
              <a:gd name="connsiteX0" fmla="*/ 0 w 1582616"/>
              <a:gd name="connsiteY0" fmla="*/ 1137139 h 1137139"/>
              <a:gd name="connsiteX1" fmla="*/ 1582616 w 1582616"/>
              <a:gd name="connsiteY1" fmla="*/ 0 h 1137139"/>
              <a:gd name="connsiteX0" fmla="*/ 0 w 1629508"/>
              <a:gd name="connsiteY0" fmla="*/ 1260231 h 1260231"/>
              <a:gd name="connsiteX1" fmla="*/ 1629508 w 1629508"/>
              <a:gd name="connsiteY1" fmla="*/ 0 h 1260231"/>
              <a:gd name="connsiteX0" fmla="*/ 0 w 1629508"/>
              <a:gd name="connsiteY0" fmla="*/ 1260231 h 1260231"/>
              <a:gd name="connsiteX1" fmla="*/ 1629508 w 1629508"/>
              <a:gd name="connsiteY1" fmla="*/ 0 h 1260231"/>
              <a:gd name="connsiteX0" fmla="*/ 0 w 1611173"/>
              <a:gd name="connsiteY0" fmla="*/ 0 h 5725"/>
              <a:gd name="connsiteX1" fmla="*/ 1611173 w 1611173"/>
              <a:gd name="connsiteY1" fmla="*/ 5725 h 5725"/>
              <a:gd name="connsiteX0" fmla="*/ 0 w 10000"/>
              <a:gd name="connsiteY0" fmla="*/ 0 h 2201043"/>
              <a:gd name="connsiteX1" fmla="*/ 10000 w 10000"/>
              <a:gd name="connsiteY1" fmla="*/ 2201043 h 2201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2201043">
                <a:moveTo>
                  <a:pt x="0" y="0"/>
                </a:moveTo>
                <a:cubicBezTo>
                  <a:pt x="3333" y="733681"/>
                  <a:pt x="6667" y="1467362"/>
                  <a:pt x="10000" y="220104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" name="Freeform: Shape 33"/>
          <p:cNvSpPr/>
          <p:nvPr/>
        </p:nvSpPr>
        <p:spPr>
          <a:xfrm flipV="1">
            <a:off x="7358488" y="1532760"/>
            <a:ext cx="1327641" cy="879956"/>
          </a:xfrm>
          <a:custGeom>
            <a:avLst/>
            <a:gdLst>
              <a:gd name="connsiteX0" fmla="*/ 0 w 1412631"/>
              <a:gd name="connsiteY0" fmla="*/ 1066814 h 1066814"/>
              <a:gd name="connsiteX1" fmla="*/ 738554 w 1412631"/>
              <a:gd name="connsiteY1" fmla="*/ 14 h 1066814"/>
              <a:gd name="connsiteX2" fmla="*/ 1412631 w 1412631"/>
              <a:gd name="connsiteY2" fmla="*/ 1043367 h 1066814"/>
              <a:gd name="connsiteX0" fmla="*/ 0 w 1412631"/>
              <a:gd name="connsiteY0" fmla="*/ 464427 h 464427"/>
              <a:gd name="connsiteX1" fmla="*/ 803031 w 1412631"/>
              <a:gd name="connsiteY1" fmla="*/ 1365 h 464427"/>
              <a:gd name="connsiteX2" fmla="*/ 1412631 w 1412631"/>
              <a:gd name="connsiteY2" fmla="*/ 440980 h 464427"/>
              <a:gd name="connsiteX0" fmla="*/ 0 w 1459524"/>
              <a:gd name="connsiteY0" fmla="*/ 1161530 h 1161530"/>
              <a:gd name="connsiteX1" fmla="*/ 803031 w 1459524"/>
              <a:gd name="connsiteY1" fmla="*/ 698468 h 1161530"/>
              <a:gd name="connsiteX2" fmla="*/ 1459524 w 1459524"/>
              <a:gd name="connsiteY2" fmla="*/ 47837 h 1161530"/>
              <a:gd name="connsiteX0" fmla="*/ 0 w 1459524"/>
              <a:gd name="connsiteY0" fmla="*/ 1113693 h 1113693"/>
              <a:gd name="connsiteX1" fmla="*/ 803031 w 1459524"/>
              <a:gd name="connsiteY1" fmla="*/ 650631 h 1113693"/>
              <a:gd name="connsiteX2" fmla="*/ 1459524 w 1459524"/>
              <a:gd name="connsiteY2" fmla="*/ 0 h 1113693"/>
              <a:gd name="connsiteX0" fmla="*/ 0 w 1459524"/>
              <a:gd name="connsiteY0" fmla="*/ 1113693 h 1113693"/>
              <a:gd name="connsiteX1" fmla="*/ 803031 w 1459524"/>
              <a:gd name="connsiteY1" fmla="*/ 650631 h 1113693"/>
              <a:gd name="connsiteX2" fmla="*/ 1459524 w 1459524"/>
              <a:gd name="connsiteY2" fmla="*/ 0 h 1113693"/>
              <a:gd name="connsiteX0" fmla="*/ 0 w 1459524"/>
              <a:gd name="connsiteY0" fmla="*/ 1113693 h 1113693"/>
              <a:gd name="connsiteX1" fmla="*/ 1459524 w 1459524"/>
              <a:gd name="connsiteY1" fmla="*/ 0 h 1113693"/>
              <a:gd name="connsiteX0" fmla="*/ 0 w 1582616"/>
              <a:gd name="connsiteY0" fmla="*/ 1137139 h 1137139"/>
              <a:gd name="connsiteX1" fmla="*/ 1582616 w 1582616"/>
              <a:gd name="connsiteY1" fmla="*/ 0 h 1137139"/>
              <a:gd name="connsiteX0" fmla="*/ 0 w 1582616"/>
              <a:gd name="connsiteY0" fmla="*/ 1137139 h 1137139"/>
              <a:gd name="connsiteX1" fmla="*/ 1582616 w 1582616"/>
              <a:gd name="connsiteY1" fmla="*/ 0 h 1137139"/>
              <a:gd name="connsiteX0" fmla="*/ 0 w 1582616"/>
              <a:gd name="connsiteY0" fmla="*/ 1137139 h 1137139"/>
              <a:gd name="connsiteX1" fmla="*/ 1582616 w 1582616"/>
              <a:gd name="connsiteY1" fmla="*/ 0 h 1137139"/>
              <a:gd name="connsiteX0" fmla="*/ 0 w 1629508"/>
              <a:gd name="connsiteY0" fmla="*/ 1260231 h 1260231"/>
              <a:gd name="connsiteX1" fmla="*/ 1629508 w 1629508"/>
              <a:gd name="connsiteY1" fmla="*/ 0 h 1260231"/>
              <a:gd name="connsiteX0" fmla="*/ 0 w 1629508"/>
              <a:gd name="connsiteY0" fmla="*/ 1260231 h 1260231"/>
              <a:gd name="connsiteX1" fmla="*/ 1629508 w 1629508"/>
              <a:gd name="connsiteY1" fmla="*/ 0 h 1260231"/>
              <a:gd name="connsiteX0" fmla="*/ 0 w 1611173"/>
              <a:gd name="connsiteY0" fmla="*/ 0 h 5725"/>
              <a:gd name="connsiteX1" fmla="*/ 1611173 w 1611173"/>
              <a:gd name="connsiteY1" fmla="*/ 5725 h 5725"/>
              <a:gd name="connsiteX0" fmla="*/ 0 w 10000"/>
              <a:gd name="connsiteY0" fmla="*/ 0 h 2201043"/>
              <a:gd name="connsiteX1" fmla="*/ 10000 w 10000"/>
              <a:gd name="connsiteY1" fmla="*/ 2201043 h 2201043"/>
              <a:gd name="connsiteX0" fmla="*/ 0 w 9725"/>
              <a:gd name="connsiteY0" fmla="*/ 0 h 293800"/>
              <a:gd name="connsiteX1" fmla="*/ 9725 w 9725"/>
              <a:gd name="connsiteY1" fmla="*/ 293800 h 293800"/>
              <a:gd name="connsiteX0" fmla="*/ 0 w 9199"/>
              <a:gd name="connsiteY0" fmla="*/ 67214 h 70827"/>
              <a:gd name="connsiteX1" fmla="*/ 9199 w 9199"/>
              <a:gd name="connsiteY1" fmla="*/ 3614 h 70827"/>
              <a:gd name="connsiteX0" fmla="*/ 0 w 10000"/>
              <a:gd name="connsiteY0" fmla="*/ 9859 h 9859"/>
              <a:gd name="connsiteX1" fmla="*/ 10000 w 10000"/>
              <a:gd name="connsiteY1" fmla="*/ 879 h 9859"/>
              <a:gd name="connsiteX0" fmla="*/ 0 w 10000"/>
              <a:gd name="connsiteY0" fmla="*/ 9108 h 9108"/>
              <a:gd name="connsiteX1" fmla="*/ 10000 w 10000"/>
              <a:gd name="connsiteY1" fmla="*/ 0 h 9108"/>
              <a:gd name="connsiteX0" fmla="*/ 0 w 11608"/>
              <a:gd name="connsiteY0" fmla="*/ 9760 h 9760"/>
              <a:gd name="connsiteX1" fmla="*/ 11608 w 11608"/>
              <a:gd name="connsiteY1" fmla="*/ 0 h 9760"/>
              <a:gd name="connsiteX0" fmla="*/ 0 w 10000"/>
              <a:gd name="connsiteY0" fmla="*/ 10000 h 10000"/>
              <a:gd name="connsiteX1" fmla="*/ 10000 w 10000"/>
              <a:gd name="connsiteY1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1310" y="4763"/>
                  <a:pt x="3184" y="896"/>
                  <a:pt x="1000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5" name="Freeform: Shape 34"/>
          <p:cNvSpPr/>
          <p:nvPr/>
        </p:nvSpPr>
        <p:spPr>
          <a:xfrm flipV="1">
            <a:off x="4045019" y="1471142"/>
            <a:ext cx="1313943" cy="1079251"/>
          </a:xfrm>
          <a:custGeom>
            <a:avLst/>
            <a:gdLst>
              <a:gd name="connsiteX0" fmla="*/ 0 w 1412631"/>
              <a:gd name="connsiteY0" fmla="*/ 1066814 h 1066814"/>
              <a:gd name="connsiteX1" fmla="*/ 738554 w 1412631"/>
              <a:gd name="connsiteY1" fmla="*/ 14 h 1066814"/>
              <a:gd name="connsiteX2" fmla="*/ 1412631 w 1412631"/>
              <a:gd name="connsiteY2" fmla="*/ 1043367 h 1066814"/>
              <a:gd name="connsiteX0" fmla="*/ 0 w 1412631"/>
              <a:gd name="connsiteY0" fmla="*/ 464427 h 464427"/>
              <a:gd name="connsiteX1" fmla="*/ 803031 w 1412631"/>
              <a:gd name="connsiteY1" fmla="*/ 1365 h 464427"/>
              <a:gd name="connsiteX2" fmla="*/ 1412631 w 1412631"/>
              <a:gd name="connsiteY2" fmla="*/ 440980 h 464427"/>
              <a:gd name="connsiteX0" fmla="*/ 0 w 1459524"/>
              <a:gd name="connsiteY0" fmla="*/ 1161530 h 1161530"/>
              <a:gd name="connsiteX1" fmla="*/ 803031 w 1459524"/>
              <a:gd name="connsiteY1" fmla="*/ 698468 h 1161530"/>
              <a:gd name="connsiteX2" fmla="*/ 1459524 w 1459524"/>
              <a:gd name="connsiteY2" fmla="*/ 47837 h 1161530"/>
              <a:gd name="connsiteX0" fmla="*/ 0 w 1459524"/>
              <a:gd name="connsiteY0" fmla="*/ 1113693 h 1113693"/>
              <a:gd name="connsiteX1" fmla="*/ 803031 w 1459524"/>
              <a:gd name="connsiteY1" fmla="*/ 650631 h 1113693"/>
              <a:gd name="connsiteX2" fmla="*/ 1459524 w 1459524"/>
              <a:gd name="connsiteY2" fmla="*/ 0 h 1113693"/>
              <a:gd name="connsiteX0" fmla="*/ 0 w 1459524"/>
              <a:gd name="connsiteY0" fmla="*/ 1113693 h 1113693"/>
              <a:gd name="connsiteX1" fmla="*/ 803031 w 1459524"/>
              <a:gd name="connsiteY1" fmla="*/ 650631 h 1113693"/>
              <a:gd name="connsiteX2" fmla="*/ 1459524 w 1459524"/>
              <a:gd name="connsiteY2" fmla="*/ 0 h 1113693"/>
              <a:gd name="connsiteX0" fmla="*/ 0 w 1459524"/>
              <a:gd name="connsiteY0" fmla="*/ 1113693 h 1113693"/>
              <a:gd name="connsiteX1" fmla="*/ 1459524 w 1459524"/>
              <a:gd name="connsiteY1" fmla="*/ 0 h 1113693"/>
              <a:gd name="connsiteX0" fmla="*/ 0 w 1582616"/>
              <a:gd name="connsiteY0" fmla="*/ 1137139 h 1137139"/>
              <a:gd name="connsiteX1" fmla="*/ 1582616 w 1582616"/>
              <a:gd name="connsiteY1" fmla="*/ 0 h 1137139"/>
              <a:gd name="connsiteX0" fmla="*/ 0 w 1582616"/>
              <a:gd name="connsiteY0" fmla="*/ 1137139 h 1137139"/>
              <a:gd name="connsiteX1" fmla="*/ 1582616 w 1582616"/>
              <a:gd name="connsiteY1" fmla="*/ 0 h 1137139"/>
              <a:gd name="connsiteX0" fmla="*/ 0 w 1582616"/>
              <a:gd name="connsiteY0" fmla="*/ 1137139 h 1137139"/>
              <a:gd name="connsiteX1" fmla="*/ 1582616 w 1582616"/>
              <a:gd name="connsiteY1" fmla="*/ 0 h 1137139"/>
              <a:gd name="connsiteX0" fmla="*/ 0 w 1629508"/>
              <a:gd name="connsiteY0" fmla="*/ 1260231 h 1260231"/>
              <a:gd name="connsiteX1" fmla="*/ 1629508 w 1629508"/>
              <a:gd name="connsiteY1" fmla="*/ 0 h 126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9508" h="1260231">
                <a:moveTo>
                  <a:pt x="0" y="1260231"/>
                </a:moveTo>
                <a:cubicBezTo>
                  <a:pt x="1143001" y="1197708"/>
                  <a:pt x="709246" y="68384"/>
                  <a:pt x="1629508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9" name="Rectangle 2048"/>
              <p:cNvSpPr/>
              <p:nvPr/>
            </p:nvSpPr>
            <p:spPr>
              <a:xfrm>
                <a:off x="394329" y="3235502"/>
                <a:ext cx="192879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𝑀𝑜𝑡𝑖𝑣𝑎𝑡𝑖𝑜𝑛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𝑅𝑒𝑤𝑎𝑟𝑑</m:t>
                      </m:r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49" name="Rectangle 20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29" y="3235502"/>
                <a:ext cx="1928798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" name="Rectangle 2050"/>
              <p:cNvSpPr/>
              <p:nvPr/>
            </p:nvSpPr>
            <p:spPr>
              <a:xfrm>
                <a:off x="1929390" y="4114800"/>
                <a:ext cx="4964556" cy="504305"/>
              </a:xfrm>
              <a:prstGeom prst="rect">
                <a:avLst/>
              </a:prstGeom>
              <a:solidFill>
                <a:schemeClr val="bg1">
                  <a:alpha val="19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𝑀𝑜𝑡𝑖𝑣𝑎𝑡𝑖𝑜𝑛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𝑅𝑒𝑤𝑎𝑟𝑑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>
                              <a:solidFill>
                                <a:srgbClr val="9966FF"/>
                              </a:solidFill>
                              <a:latin typeface="Cambria Math" panose="02040503050406030204" pitchFamily="18" charset="0"/>
                            </a:rPr>
                            <m:t>𝑆𝑎𝑡𝑖𝑎𝑡𝑖𝑜𝑛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1200" i="1">
                                  <a:solidFill>
                                    <a:srgbClr val="FC8A2C"/>
                                  </a:solidFill>
                                  <a:latin typeface="Cambria Math" panose="02040503050406030204" pitchFamily="18" charset="0"/>
                                </a:rPr>
                                <m:t>𝐷𝑒𝑙𝑎𝑦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51" name="Rectangle 20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390" y="4114800"/>
                <a:ext cx="4964556" cy="50430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3732417" y="3235502"/>
                <a:ext cx="221118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𝑀𝑜𝑡𝑖𝑣𝑎𝑡𝑖𝑜𝑛</m:t>
                    </m:r>
                    <m:r>
                      <a:rPr lang="en-US" sz="1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solidFill>
                          <a:srgbClr val="99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𝑆𝑎𝑡𝑖𝑎𝑡𝑖𝑜𝑛</m:t>
                    </m:r>
                  </m:oMath>
                </a14:m>
                <a:r>
                  <a:rPr lang="en-US" sz="1200" dirty="0">
                    <a:latin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417" y="3235502"/>
                <a:ext cx="2211183" cy="276999"/>
              </a:xfrm>
              <a:prstGeom prst="rect">
                <a:avLst/>
              </a:prstGeom>
              <a:blipFill rotWithShape="1">
                <a:blip r:embed="rId6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6894205" y="3087805"/>
                <a:ext cx="2249795" cy="4707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𝑀𝑜𝑡𝑖𝑣𝑎𝑡𝑖𝑜𝑛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200" i="1">
                              <a:solidFill>
                                <a:srgbClr val="FC8A2C"/>
                              </a:solidFill>
                              <a:latin typeface="Cambria Math" panose="02040503050406030204" pitchFamily="18" charset="0"/>
                            </a:rPr>
                            <m:t>𝐷𝑒𝑙𝑎𝑦</m:t>
                          </m:r>
                        </m:den>
                      </m:f>
                    </m:oMath>
                  </m:oMathPara>
                </a14:m>
                <a:endParaRPr lang="en-US" sz="12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05" y="3087805"/>
                <a:ext cx="2249795" cy="470770"/>
              </a:xfrm>
              <a:prstGeom prst="rect">
                <a:avLst/>
              </a:prstGeom>
              <a:blipFill rotWithShape="1">
                <a:blip r:embed="rId7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391633" y="990600"/>
                <a:ext cx="806656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smtClean="0">
                        <a:latin typeface="Cambria Math" panose="02040503050406030204" pitchFamily="18" charset="0"/>
                      </a:rPr>
                      <m:t>𝑀𝑜𝑡𝑖𝑣𝑎𝑡𝑖𝑜𝑛</m:t>
                    </m:r>
                    <m:r>
                      <a:rPr lang="en-US" sz="120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120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smtClean="0">
                        <a:latin typeface="Cambria Math" panose="02040503050406030204" pitchFamily="18" charset="0"/>
                      </a:rPr>
                      <m:t>𝑖𝑛𝑣𝑒𝑟𝑠𝑙𝑦</m:t>
                    </m:r>
                    <m:r>
                      <a:rPr lang="en-US" sz="120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smtClean="0">
                        <a:latin typeface="Cambria Math" panose="02040503050406030204" pitchFamily="18" charset="0"/>
                      </a:rPr>
                      <m:t>𝑐𝑜𝑟𝑒𝑙𝑙𝑎𝑡𝑒𝑑</m:t>
                    </m:r>
                    <m:r>
                      <a:rPr lang="en-US" sz="120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smtClean="0"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sz="120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𝑟𝑟𝑜𝑟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𝑟𝑎𝑡𝑒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𝑟𝑒𝑎𝑐𝑡𝑖𝑜𝑛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monkey</m:t>
                    </m:r>
                  </m:oMath>
                </a14:m>
                <a:r>
                  <a:rPr lang="en-US" sz="1200" dirty="0"/>
                  <a:t> (Minamimoto +Richmond, 2009)</a:t>
                </a:r>
                <a:endParaRPr lang="en-US" sz="11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33" y="990600"/>
                <a:ext cx="8066567" cy="276999"/>
              </a:xfrm>
              <a:prstGeom prst="rect">
                <a:avLst/>
              </a:prstGeom>
              <a:blipFill>
                <a:blip r:embed="rId8"/>
                <a:stretch>
                  <a:fillRect t="-4444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3810000" y="4973668"/>
            <a:ext cx="152289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Simon’s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89699" y="5235278"/>
                <a:ext cx="8833012" cy="710194"/>
              </a:xfrm>
              <a:prstGeom prst="rect">
                <a:avLst/>
              </a:prstGeom>
              <a:solidFill>
                <a:srgbClr val="FFFF00">
                  <a:alpha val="19000"/>
                </a:srgb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𝑀𝑜𝑡𝑖𝑣𝑎𝑡𝑖𝑜𝑛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𝑅𝑒𝑤𝑎𝑟𝑑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𝑃𝑟𝑜𝑠𝑝𝑒𝑐𝑡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9966FF"/>
                              </a:solidFill>
                              <a:latin typeface="Cambria Math" panose="02040503050406030204" pitchFamily="18" charset="0"/>
                            </a:rPr>
                            <m:t>𝑆𝑎𝑡𝑖𝑎𝑡𝑖𝑜𝑛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i="1">
                                  <a:solidFill>
                                    <a:srgbClr val="FC8A2C"/>
                                  </a:solidFill>
                                  <a:latin typeface="Cambria Math" panose="02040503050406030204" pitchFamily="18" charset="0"/>
                                </a:rPr>
                                <m:t>𝐷𝑒𝑙𝑎𝑦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𝐶𝑜𝑠𝑡</m:t>
                      </m:r>
                    </m:oMath>
                  </m:oMathPara>
                </a14:m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99" y="5235278"/>
                <a:ext cx="8833012" cy="710194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894955" y="6212342"/>
            <a:ext cx="68979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You buy a lottery by fantasizing the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Prospect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6762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2049" grpId="0"/>
      <p:bldP spid="2051" grpId="0" animBg="1"/>
      <p:bldP spid="39" grpId="0"/>
      <p:bldP spid="41" grpId="0"/>
      <p:bldP spid="42" grpId="0"/>
      <p:bldP spid="28" grpId="0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09600"/>
          </a:xfrm>
          <a:solidFill>
            <a:srgbClr val="EAEAEA"/>
          </a:solidFill>
        </p:spPr>
        <p:txBody>
          <a:bodyPr/>
          <a:lstStyle/>
          <a:p>
            <a:pPr marL="762000" indent="-762000" eaLnBrk="1" hangingPunct="1"/>
            <a:r>
              <a:rPr lang="en-US" altLang="ja-JP" sz="3600" b="1" dirty="0">
                <a:solidFill>
                  <a:srgbClr val="FF0000"/>
                </a:solidFill>
                <a:ea typeface="ＭＳ Ｐゴシック" pitchFamily="34" charset="-128"/>
              </a:rPr>
              <a:t>Questions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772701" y="1262390"/>
            <a:ext cx="152289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Simon’s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52400" y="1524000"/>
                <a:ext cx="8833012" cy="710194"/>
              </a:xfrm>
              <a:prstGeom prst="rect">
                <a:avLst/>
              </a:prstGeom>
              <a:solidFill>
                <a:srgbClr val="FFFF00">
                  <a:alpha val="19000"/>
                </a:srgb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𝑀𝑜𝑡𝑖𝑣𝑎𝑡𝑖𝑜𝑛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𝑅𝑒𝑤𝑎𝑟𝑑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𝑃𝑟𝑜𝑠𝑝𝑒𝑐𝑡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9966FF"/>
                              </a:solidFill>
                              <a:latin typeface="Cambria Math" panose="02040503050406030204" pitchFamily="18" charset="0"/>
                            </a:rPr>
                            <m:t>𝑆𝑎𝑡𝑖𝑎𝑡𝑖𝑜𝑛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i="1">
                                  <a:solidFill>
                                    <a:srgbClr val="FC8A2C"/>
                                  </a:solidFill>
                                  <a:latin typeface="Cambria Math" panose="02040503050406030204" pitchFamily="18" charset="0"/>
                                </a:rPr>
                                <m:t>𝐷𝑒𝑙𝑎𝑦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𝐶𝑜𝑠𝑡</m:t>
                      </m:r>
                    </m:oMath>
                  </m:oMathPara>
                </a14:m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524000"/>
                <a:ext cx="8833012" cy="710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600200" y="6027040"/>
            <a:ext cx="69909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  <a:r>
              <a:rPr lang="en-US" dirty="0"/>
              <a:t> amount may be stored in OFC ? </a:t>
            </a:r>
            <a:r>
              <a:rPr lang="en-US" sz="800" dirty="0"/>
              <a:t>– </a:t>
            </a:r>
            <a:r>
              <a:rPr lang="en-US" sz="800" dirty="0" err="1"/>
              <a:t>Rudebeck</a:t>
            </a:r>
            <a:r>
              <a:rPr lang="en-US" sz="800" dirty="0"/>
              <a:t> et al., 2017</a:t>
            </a:r>
          </a:p>
          <a:p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Prospect</a:t>
            </a:r>
            <a:r>
              <a:rPr lang="en-US" dirty="0"/>
              <a:t> may be calculated in VLPFC? </a:t>
            </a:r>
            <a:r>
              <a:rPr lang="en-US" sz="800" dirty="0"/>
              <a:t>– </a:t>
            </a:r>
            <a:r>
              <a:rPr lang="en-US" sz="800" dirty="0" err="1"/>
              <a:t>Rudebeck</a:t>
            </a:r>
            <a:r>
              <a:rPr lang="en-US" sz="800" dirty="0"/>
              <a:t> et al., 2017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9710F21-243E-451B-AA3C-543F0236F17D}"/>
                  </a:ext>
                </a:extLst>
              </p:cNvPr>
              <p:cNvSpPr/>
              <p:nvPr/>
            </p:nvSpPr>
            <p:spPr>
              <a:xfrm>
                <a:off x="152400" y="2743200"/>
                <a:ext cx="8833012" cy="1153842"/>
              </a:xfrm>
              <a:prstGeom prst="rect">
                <a:avLst/>
              </a:prstGeom>
              <a:solidFill>
                <a:srgbClr val="FFFF00">
                  <a:alpha val="19000"/>
                </a:srgb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57150" indent="-571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𝑀𝑜𝑡𝑖𝑣𝑎𝑡𝑖𝑜𝑛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𝑀𝑜𝑡𝑖𝑣𝑎𝑡𝑖𝑜𝑛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 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𝑀𝑜𝑡𝑖𝑣𝑎𝑡𝑖𝑜𝑛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𝑀𝑜𝑡𝑖𝑣𝑎𝑡𝑖𝑜𝑛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…+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𝑀𝑜𝑡𝑖𝑣𝑎𝑡𝑖𝑜𝑛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9710F21-243E-451B-AA3C-543F0236F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743200"/>
                <a:ext cx="8833012" cy="1153842"/>
              </a:xfrm>
              <a:prstGeom prst="rect">
                <a:avLst/>
              </a:prstGeom>
              <a:blipFill>
                <a:blip r:embed="rId4"/>
                <a:stretch>
                  <a:fillRect b="-7330"/>
                </a:stretch>
              </a:blip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116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Members’ Decision Making?</a:t>
            </a:r>
          </a:p>
        </p:txBody>
      </p:sp>
      <p:sp>
        <p:nvSpPr>
          <p:cNvPr id="8" name="Rectangle 7"/>
          <p:cNvSpPr/>
          <p:nvPr/>
        </p:nvSpPr>
        <p:spPr>
          <a:xfrm rot="16200000">
            <a:off x="70560" y="3247010"/>
            <a:ext cx="3847406" cy="55378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1100" b="1" kern="12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Negative </a:t>
            </a:r>
            <a:r>
              <a:rPr lang="en-US" sz="1100" b="1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Scores</a:t>
            </a:r>
          </a:p>
          <a:p>
            <a:pPr algn="ctr"/>
            <a:r>
              <a:rPr lang="en-US" sz="1100" b="1" dirty="0">
                <a:solidFill>
                  <a:srgbClr val="000000"/>
                </a:solidFill>
                <a:latin typeface="Arial Narrow"/>
                <a:ea typeface="Times New Roman"/>
              </a:rPr>
              <a:t>(Sum of the negative scores from the features in the PCA analysis)</a:t>
            </a:r>
            <a:endParaRPr lang="en-US" sz="2000" dirty="0">
              <a:effectLst/>
              <a:latin typeface="Times New Roman"/>
              <a:ea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99EF71-CC78-40FD-8B02-26BA77D7A1C2}"/>
              </a:ext>
            </a:extLst>
          </p:cNvPr>
          <p:cNvSpPr/>
          <p:nvPr/>
        </p:nvSpPr>
        <p:spPr>
          <a:xfrm>
            <a:off x="6113417" y="5701937"/>
            <a:ext cx="1062446" cy="55378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600" b="1" kern="1200" dirty="0">
                <a:solidFill>
                  <a:srgbClr val="000000"/>
                </a:solidFill>
                <a:effectLst/>
                <a:latin typeface="Arial Narrow"/>
                <a:ea typeface="Times New Roman"/>
              </a:rPr>
              <a:t>Rewards</a:t>
            </a:r>
          </a:p>
          <a:p>
            <a:r>
              <a:rPr lang="en-US" sz="1600" b="1" dirty="0">
                <a:solidFill>
                  <a:srgbClr val="000000"/>
                </a:solidFill>
                <a:latin typeface="Arial Narrow"/>
                <a:ea typeface="Times New Roman"/>
              </a:rPr>
              <a:t>()</a:t>
            </a:r>
            <a:endParaRPr lang="en-US" sz="3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98889D2-054B-444F-BD4A-9D158B231D93}"/>
              </a:ext>
            </a:extLst>
          </p:cNvPr>
          <p:cNvSpPr/>
          <p:nvPr/>
        </p:nvSpPr>
        <p:spPr>
          <a:xfrm>
            <a:off x="2368731" y="1611086"/>
            <a:ext cx="4110446" cy="4084320"/>
          </a:xfrm>
          <a:custGeom>
            <a:avLst/>
            <a:gdLst>
              <a:gd name="connsiteX0" fmla="*/ 4110446 w 4110446"/>
              <a:gd name="connsiteY0" fmla="*/ 4084320 h 4084320"/>
              <a:gd name="connsiteX1" fmla="*/ 0 w 4110446"/>
              <a:gd name="connsiteY1" fmla="*/ 4084320 h 4084320"/>
              <a:gd name="connsiteX2" fmla="*/ 0 w 4110446"/>
              <a:gd name="connsiteY2" fmla="*/ 0 h 408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10446" h="4084320">
                <a:moveTo>
                  <a:pt x="4110446" y="4084320"/>
                </a:moveTo>
                <a:lnTo>
                  <a:pt x="0" y="4084320"/>
                </a:lnTo>
                <a:lnTo>
                  <a:pt x="0" y="0"/>
                </a:lnTo>
              </a:path>
            </a:pathLst>
          </a:custGeom>
          <a:noFill/>
          <a:ln w="38100"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5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</TotalTime>
  <Words>322</Words>
  <Application>Microsoft Office PowerPoint</Application>
  <PresentationFormat>On-screen Show (4:3)</PresentationFormat>
  <Paragraphs>42</Paragraphs>
  <Slides>4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Narrow</vt:lpstr>
      <vt:lpstr>Calibri</vt:lpstr>
      <vt:lpstr>Calibri Light</vt:lpstr>
      <vt:lpstr>Cambria Math</vt:lpstr>
      <vt:lpstr>Times New Roman</vt:lpstr>
      <vt:lpstr>Office Theme</vt:lpstr>
      <vt:lpstr>PowerPoint Presentation</vt:lpstr>
      <vt:lpstr>Equation of Motivation</vt:lpstr>
      <vt:lpstr>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Hong</dc:creator>
  <cp:lastModifiedBy>Simon Hong</cp:lastModifiedBy>
  <cp:revision>7</cp:revision>
  <dcterms:created xsi:type="dcterms:W3CDTF">2020-02-07T20:28:50Z</dcterms:created>
  <dcterms:modified xsi:type="dcterms:W3CDTF">2020-02-07T23:28:49Z</dcterms:modified>
</cp:coreProperties>
</file>